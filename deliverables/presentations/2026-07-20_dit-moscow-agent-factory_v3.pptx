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0603815f744f5" /><Relationship Type="http://schemas.openxmlformats.org/officeDocument/2006/relationships/extended-properties" Target="/docProps/app.xml" Id="R45bfaa3972da4c8f" /><Relationship Type="http://schemas.openxmlformats.org/officeDocument/2006/relationships/officeDocument" Target="/ppt/presentation.xml" Id="R2ab4943096e040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717a908b754f4e"/>
  </p:sldMasterIdLst>
  <p:notesMasterIdLst>
    <p:notesMasterId xmlns:r="http://schemas.openxmlformats.org/officeDocument/2006/relationships" r:id="R83b098144c9741bd"/>
  </p:notesMasterIdLst>
  <p:sldIdLst>
    <p:sldId xmlns:r="http://schemas.openxmlformats.org/officeDocument/2006/relationships" id="256" r:id="R6b5b392b8ea446c4"/>
    <p:sldId xmlns:r="http://schemas.openxmlformats.org/officeDocument/2006/relationships" id="257" r:id="R8b2d89a9d2e74f8a"/>
    <p:sldId xmlns:r="http://schemas.openxmlformats.org/officeDocument/2006/relationships" id="258" r:id="Rbd56a5f5faa44658"/>
    <p:sldId xmlns:r="http://schemas.openxmlformats.org/officeDocument/2006/relationships" id="259" r:id="Re3bf8dfdbd544e9c"/>
    <p:sldId xmlns:r="http://schemas.openxmlformats.org/officeDocument/2006/relationships" id="260" r:id="R630cf23ec4654841"/>
    <p:sldId xmlns:r="http://schemas.openxmlformats.org/officeDocument/2006/relationships" id="261" r:id="R14d5ff47d1514b7c"/>
    <p:sldId xmlns:r="http://schemas.openxmlformats.org/officeDocument/2006/relationships" id="262" r:id="R919eb9c13bc34933"/>
    <p:sldId xmlns:r="http://schemas.openxmlformats.org/officeDocument/2006/relationships" id="263" r:id="Re200b25dd6ff4c60"/>
    <p:sldId xmlns:r="http://schemas.openxmlformats.org/officeDocument/2006/relationships" id="264" r:id="Rf9ad47eb5204472b"/>
    <p:sldId xmlns:r="http://schemas.openxmlformats.org/officeDocument/2006/relationships" id="265" r:id="R73faa0818f7143b2"/>
    <p:sldId xmlns:r="http://schemas.openxmlformats.org/officeDocument/2006/relationships" id="266" r:id="R6a693896b2b449c6"/>
    <p:sldId xmlns:r="http://schemas.openxmlformats.org/officeDocument/2006/relationships" id="267" r:id="Rd9ffd7e8a41d4145"/>
    <p:sldId xmlns:r="http://schemas.openxmlformats.org/officeDocument/2006/relationships" id="268" r:id="R2eecf08173e34de6"/>
    <p:sldId xmlns:r="http://schemas.openxmlformats.org/officeDocument/2006/relationships" id="269" r:id="R8a7552b8f83c4141"/>
    <p:sldId xmlns:r="http://schemas.openxmlformats.org/officeDocument/2006/relationships" id="270" r:id="R09ee0cbee85d4663"/>
    <p:sldId xmlns:r="http://schemas.openxmlformats.org/officeDocument/2006/relationships" id="271" r:id="R60d371a50c09432d"/>
    <p:sldId xmlns:r="http://schemas.openxmlformats.org/officeDocument/2006/relationships" id="272" r:id="R5219a33b52064191"/>
    <p:sldId xmlns:r="http://schemas.openxmlformats.org/officeDocument/2006/relationships" id="273" r:id="R24c730a0703947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92aa3eb60a4f95" /><Relationship Type="http://schemas.openxmlformats.org/officeDocument/2006/relationships/slideMaster" Target="/ppt/slideMasters/slideMaster1.xml" Id="R7e717a908b754f4e" /><Relationship Type="http://schemas.openxmlformats.org/officeDocument/2006/relationships/notesMaster" Target="/ppt/notesMasters/notesMaster1.xml" Id="R83b098144c9741bd" /><Relationship Type="http://schemas.openxmlformats.org/officeDocument/2006/relationships/presProps" Target="/ppt/presProps.xml" Id="R7e7f6ce56e064dc7" /><Relationship Type="http://schemas.openxmlformats.org/officeDocument/2006/relationships/tableStyles" Target="/ppt/tableStyles.xml" Id="R30fd34ca650b41bb" /><Relationship Type="http://schemas.openxmlformats.org/officeDocument/2006/relationships/slide" Target="/ppt/slides/slide1.xml" Id="R6b5b392b8ea446c4" /><Relationship Type="http://schemas.openxmlformats.org/officeDocument/2006/relationships/slide" Target="/ppt/slides/slide2.xml" Id="R8b2d89a9d2e74f8a" /><Relationship Type="http://schemas.openxmlformats.org/officeDocument/2006/relationships/slide" Target="/ppt/slides/slide3.xml" Id="Rbd56a5f5faa44658" /><Relationship Type="http://schemas.openxmlformats.org/officeDocument/2006/relationships/slide" Target="/ppt/slides/slide4.xml" Id="Re3bf8dfdbd544e9c" /><Relationship Type="http://schemas.openxmlformats.org/officeDocument/2006/relationships/slide" Target="/ppt/slides/slide5.xml" Id="R630cf23ec4654841" /><Relationship Type="http://schemas.openxmlformats.org/officeDocument/2006/relationships/slide" Target="/ppt/slides/slide6.xml" Id="R14d5ff47d1514b7c" /><Relationship Type="http://schemas.openxmlformats.org/officeDocument/2006/relationships/slide" Target="/ppt/slides/slide7.xml" Id="R919eb9c13bc34933" /><Relationship Type="http://schemas.openxmlformats.org/officeDocument/2006/relationships/slide" Target="/ppt/slides/slide8.xml" Id="Re200b25dd6ff4c60" /><Relationship Type="http://schemas.openxmlformats.org/officeDocument/2006/relationships/slide" Target="/ppt/slides/slide9.xml" Id="Rf9ad47eb5204472b" /><Relationship Type="http://schemas.openxmlformats.org/officeDocument/2006/relationships/slide" Target="/ppt/slides/slide10.xml" Id="R73faa0818f7143b2" /><Relationship Type="http://schemas.openxmlformats.org/officeDocument/2006/relationships/slide" Target="/ppt/slides/slide11.xml" Id="R6a693896b2b449c6" /><Relationship Type="http://schemas.openxmlformats.org/officeDocument/2006/relationships/slide" Target="/ppt/slides/slide12.xml" Id="Rd9ffd7e8a41d4145" /><Relationship Type="http://schemas.openxmlformats.org/officeDocument/2006/relationships/slide" Target="/ppt/slides/slide13.xml" Id="R2eecf08173e34de6" /><Relationship Type="http://schemas.openxmlformats.org/officeDocument/2006/relationships/slide" Target="/ppt/slides/slide14.xml" Id="R8a7552b8f83c4141" /><Relationship Type="http://schemas.openxmlformats.org/officeDocument/2006/relationships/slide" Target="/ppt/slides/slide15.xml" Id="R09ee0cbee85d4663" /><Relationship Type="http://schemas.openxmlformats.org/officeDocument/2006/relationships/slide" Target="/ppt/slides/slide16.xml" Id="R60d371a50c09432d" /><Relationship Type="http://schemas.openxmlformats.org/officeDocument/2006/relationships/slide" Target="/ppt/slides/slide17.xml" Id="R5219a33b52064191" /><Relationship Type="http://schemas.openxmlformats.org/officeDocument/2006/relationships/slide" Target="/ppt/slides/slide18.xml" Id="R24c730a0703947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9198a211294a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f5d2f8baf94a3b" /><Relationship Type="http://schemas.openxmlformats.org/officeDocument/2006/relationships/notesMaster" Target="/ppt/notesMasters/notesMaster1.xml" Id="R6dbc433d66d346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10411e76724c2f" /><Relationship Type="http://schemas.openxmlformats.org/officeDocument/2006/relationships/notesMaster" Target="/ppt/notesMasters/notesMaster1.xml" Id="Re70a6a5962eb4b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3eb9b45d0f483b" /><Relationship Type="http://schemas.openxmlformats.org/officeDocument/2006/relationships/notesMaster" Target="/ppt/notesMasters/notesMaster1.xml" Id="R5851f28d8a1647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bc26fe5cb74233" /><Relationship Type="http://schemas.openxmlformats.org/officeDocument/2006/relationships/notesMaster" Target="/ppt/notesMasters/notesMaster1.xml" Id="Rf515e95b447641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f282b42c0d4a65" /><Relationship Type="http://schemas.openxmlformats.org/officeDocument/2006/relationships/notesMaster" Target="/ppt/notesMasters/notesMaster1.xml" Id="Rfc6e0e6ff50740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00cf230c9a493a" /><Relationship Type="http://schemas.openxmlformats.org/officeDocument/2006/relationships/notesMaster" Target="/ppt/notesMasters/notesMaster1.xml" Id="Rfaa5bf35105a49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459b43341e4215" /><Relationship Type="http://schemas.openxmlformats.org/officeDocument/2006/relationships/notesMaster" Target="/ppt/notesMasters/notesMaster1.xml" Id="R7406ff99ea184c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c8ec280b5b407b" /><Relationship Type="http://schemas.openxmlformats.org/officeDocument/2006/relationships/notesMaster" Target="/ppt/notesMasters/notesMaster1.xml" Id="R33b5498a1b3a49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ba0808457e4949" /><Relationship Type="http://schemas.openxmlformats.org/officeDocument/2006/relationships/notesMaster" Target="/ppt/notesMasters/notesMaster1.xml" Id="R0802addcba5246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6d4dbb2034416f" /><Relationship Type="http://schemas.openxmlformats.org/officeDocument/2006/relationships/notesMaster" Target="/ppt/notesMasters/notesMaster1.xml" Id="R0a4016ddd0d84a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32d0e5a0cb40fa" /><Relationship Type="http://schemas.openxmlformats.org/officeDocument/2006/relationships/notesMaster" Target="/ppt/notesMasters/notesMaster1.xml" Id="Rfd60183f0d4e49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545832f4834a44" /><Relationship Type="http://schemas.openxmlformats.org/officeDocument/2006/relationships/notesMaster" Target="/ppt/notesMasters/notesMaster1.xml" Id="R52e92b1c10734c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b297224ad14944" /><Relationship Type="http://schemas.openxmlformats.org/officeDocument/2006/relationships/notesMaster" Target="/ppt/notesMasters/notesMaster1.xml" Id="Re63790a21c9a45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9e1c2a2ea6485f" /><Relationship Type="http://schemas.openxmlformats.org/officeDocument/2006/relationships/notesMaster" Target="/ppt/notesMasters/notesMaster1.xml" Id="R2bf40858033043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8a73e138094f43" /><Relationship Type="http://schemas.openxmlformats.org/officeDocument/2006/relationships/notesMaster" Target="/ppt/notesMasters/notesMaster1.xml" Id="R6f8139b72c694c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94b4989b5b4f58" /><Relationship Type="http://schemas.openxmlformats.org/officeDocument/2006/relationships/notesMaster" Target="/ppt/notesMasters/notesMaster1.xml" Id="R9e205fa204854c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645aa62705499e" /><Relationship Type="http://schemas.openxmlformats.org/officeDocument/2006/relationships/notesMaster" Target="/ppt/notesMasters/notesMaster1.xml" Id="Rf9ef59f98c884e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767cf6d60649ea" /><Relationship Type="http://schemas.openxmlformats.org/officeDocument/2006/relationships/notesMaster" Target="/ppt/notesMasters/notesMaster1.xml" Id="Re019e2e72d5243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Коммуникационная задача: к концу встречи руководство и технические специалисты ДИТ должны увидеть в Oxtech технологического партнёра для совместного создания городской платформы агентов.</a:t>
            </a:r>
          </a:p>
          <a:p xmlns:a="http://schemas.openxmlformats.org/drawingml/2006/main">
            <a:r>
              <a:t>Не начинать с перечня функций. Начать с вопроса владения технологическим слоем города.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Переход от чат-ботов к системам исполнения — ключевой контекст встречи.</a:t>
            </a:r>
          </a:p>
          <a:p xmlns:a="http://schemas.openxmlformats.org/drawingml/2006/main">
            <a:r>
              <a:t>Подчеркнуть: речь не о замене людей, а о контролируемой автоматизации межсистемной рутины.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заменяет неподтверждённые цифры исходной презентации: не говорить про деплой 15–25 секунд и шесть подключённых LLM.</a:t>
            </a:r>
          </a:p>
          <a:p xmlns:a="http://schemas.openxmlformats.org/drawingml/2006/main">
            <a:r>
              <a:t>67 — инструменты общего Portal; суммарно 147 с Keylink и Converter.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Четыре независимых слоя: каналы, координация, специализированные агенты, результат.</a:t>
            </a:r>
          </a:p>
          <a:p xmlns:a="http://schemas.openxmlformats.org/drawingml/2006/main">
            <a:r>
              <a:t>MCP обслуживает данные и инструменты; A2A — взаимодействие агентов; шлюз — выбор модели; Manager — эксплуатация.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Ключевое инженерное решение: агенты собираются из одной Go-кодовой базы с разными build tags и конфигурацией из Portal.</a:t>
            </a:r>
          </a:p>
          <a:p xmlns:a="http://schemas.openxmlformats.org/drawingml/2006/main">
            <a:r>
              <a:t>Для города это снижает стоимость появления новой роли и делает правила эксплуатации едиными.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Показать, что это не линейная цепочка: независимые шаги выполняются параллельно.</a:t>
            </a:r>
          </a:p>
          <a:p xmlns:a="http://schemas.openxmlformats.org/drawingml/2006/main">
            <a:r>
              <a:t>Для city-grade версии потребуется усиление верификатора и динамического статуса агентов — это отмечено в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утверждать, что A2A лучше MCP вообще. Они решают разные задачи и дополняют друг друга.</a:t>
            </a:r>
          </a:p>
          <a:p xmlns:a="http://schemas.openxmlformats.org/drawingml/2006/main">
            <a:r>
              <a:t>Технологическое преимущество Oxtech — явное разделение координации и доступа к данным.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Развести существующее ядро и совместно создаваемые элементы фабрики.</a:t>
            </a:r>
          </a:p>
          <a:p xmlns:a="http://schemas.openxmlformats.org/drawingml/2006/main">
            <a:r>
              <a:t>Главная мысль: платформа масштабируется не только через функции вендора, но и через регулируемую экосистему.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Комната — не чат. Это управленческая граница процесса, доступа и discovery.</a:t>
            </a:r>
          </a:p>
          <a:p xmlns:a="http://schemas.openxmlformats.org/drawingml/2006/main">
            <a:r>
              <a:t>Сейчас allowed_agents статичен; discovery по комнатам — компонент совместной городской версии.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Аттестация и уровни зрелости — целевая система управления качеством, а не готовая функция production.</a:t>
            </a:r>
          </a:p>
          <a:p xmlns:a="http://schemas.openxmlformats.org/drawingml/2006/main">
            <a:r>
              <a:t>Подчеркнуть human-in-the-loop на границе допуска в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сознательно честный слайд. Не говорить, что GigaChat или YandexGPT уже работают в production.</a:t>
            </a:r>
          </a:p>
          <a:p xmlns:a="http://schemas.openxmlformats.org/drawingml/2006/main">
            <a:r>
              <a:t>Технический тезис: агенты не содержат провайдеро-специфичного кода; интеграция идёт через OpenAI-совместимый шлюз.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Сравнивать прямо, но без недоказуемых утверждений. Формулировка по межагентному протоколу: не раскрыт публично.</a:t>
            </a:r>
          </a:p>
          <a:p xmlns:a="http://schemas.openxmlformats.org/drawingml/2006/main">
            <a:r>
              <a:t>Главная ось сравнения — владение и управляемость, а не число функций.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Oxtech позиционируется как технологический партнёр, а не как подрядчик по отдельному чат-боту.</a:t>
            </a:r>
          </a:p>
          <a:p xmlns:a="http://schemas.openxmlformats.org/drawingml/2006/main">
            <a:r>
              <a:t>Не фиксировать коммерческую модель на слайде — оставить для дискуссии.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не обязательный запрос к ДИТ, а понятная демонстрация того, как оценивать платформу.</a:t>
            </a:r>
          </a:p>
          <a:p xmlns:a="http://schemas.openxmlformats.org/drawingml/2006/main">
            <a:r>
              <a:t>Не обещать сроки и эффект без доступа к реальному процессу и выборке документов.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исходное напряжение: аренда функции или владение технологией.</a:t>
            </a:r>
          </a:p>
          <a:p xmlns:a="http://schemas.openxmlformats.org/drawingml/2006/main">
            <a:r>
              <a:t>После этого перейти в свободную дискуссию; конкретный запрос на слайде намеренно не фиксируется.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Использовать как справочный слайд при технических вопросах.</a:t>
            </a:r>
          </a:p>
          <a:p xmlns:a="http://schemas.openxmlformats.org/drawingml/2006/main">
            <a:r>
              <a:t>Не суммировать 147 как инструменты одного контура: это сумма трёх интерфейсов.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защищает доверие на технической встрече.</a:t>
            </a:r>
          </a:p>
          <a:p xmlns:a="http://schemas.openxmlformats.org/drawingml/2006/main">
            <a:r>
              <a:t>К city-grade усилениям относятся динамический статус агентов, устойчивое хранение задач и более строгий верификатор.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называть свидетельство патентом и не утверждать включение в реестр Минцифры.</a:t>
            </a:r>
          </a:p>
          <a:p xmlns:a="http://schemas.openxmlformats.org/drawingml/2006/main">
            <a:r>
              <a:t>Полный перечень источников хранится в wiki проекта и в raw-материалах.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48b16de1e42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92afa75b2a4012" /><Relationship Type="http://schemas.openxmlformats.org/officeDocument/2006/relationships/slideLayout" Target="/ppt/slideLayouts/slideLayout1.xml" Id="R699ff8df316b4a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9ff8df316b4a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42265a7654972" /><Relationship Type="http://schemas.openxmlformats.org/officeDocument/2006/relationships/image" Target="/ppt/media/image.png" Id="R98e7f20217aa4ed1" /><Relationship Type="http://schemas.openxmlformats.org/officeDocument/2006/relationships/notesSlide" Target="/ppt/notesSlides/notesSlide1.xml" Id="R9adbd1095b144b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777263f9c439a" /><Relationship Type="http://schemas.openxmlformats.org/officeDocument/2006/relationships/image" Target="/ppt/media/image2.png" Id="R2d31854f15454113" /><Relationship Type="http://schemas.openxmlformats.org/officeDocument/2006/relationships/notesSlide" Target="/ppt/notesSlides/notesSlide2.xml" Id="Ra4d1c933a35747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2917ebdf54e27" /><Relationship Type="http://schemas.openxmlformats.org/officeDocument/2006/relationships/image" Target="/ppt/media/image3.png" Id="Red789f9f72f34c44" /><Relationship Type="http://schemas.openxmlformats.org/officeDocument/2006/relationships/notesSlide" Target="/ppt/notesSlides/notesSlide3.xml" Id="R86dcf5d01da842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32f0ed09c40a1" /><Relationship Type="http://schemas.openxmlformats.org/officeDocument/2006/relationships/image" Target="/ppt/media/image4.png" Id="R00ec47e1d224422f" /><Relationship Type="http://schemas.openxmlformats.org/officeDocument/2006/relationships/notesSlide" Target="/ppt/notesSlides/notesSlide4.xml" Id="R1be51afdbf2a46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8f6f8060e4950" /><Relationship Type="http://schemas.openxmlformats.org/officeDocument/2006/relationships/image" Target="/ppt/media/image5.png" Id="R6c2f73c09e7c4427" /><Relationship Type="http://schemas.openxmlformats.org/officeDocument/2006/relationships/notesSlide" Target="/ppt/notesSlides/notesSlide5.xml" Id="R460dafc4ffd942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5ff9ac4184226" /><Relationship Type="http://schemas.openxmlformats.org/officeDocument/2006/relationships/image" Target="/ppt/media/image6.png" Id="R1b25cb5f26c24056" /><Relationship Type="http://schemas.openxmlformats.org/officeDocument/2006/relationships/notesSlide" Target="/ppt/notesSlides/notesSlide6.xml" Id="R7f36f080ac9f46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10bf37f4942cb" /><Relationship Type="http://schemas.openxmlformats.org/officeDocument/2006/relationships/image" Target="/ppt/media/image7.png" Id="R49c6bf162ba246d0" /><Relationship Type="http://schemas.openxmlformats.org/officeDocument/2006/relationships/notesSlide" Target="/ppt/notesSlides/notesSlide7.xml" Id="R299af7ccf30a4e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ee478c47c4cf6" /><Relationship Type="http://schemas.openxmlformats.org/officeDocument/2006/relationships/image" Target="/ppt/media/image8.png" Id="R2f292415992d4b91" /><Relationship Type="http://schemas.openxmlformats.org/officeDocument/2006/relationships/notesSlide" Target="/ppt/notesSlides/notesSlide8.xml" Id="R51c9f67e85ba4a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e3fe0e9da4979" /><Relationship Type="http://schemas.openxmlformats.org/officeDocument/2006/relationships/image" Target="/ppt/media/image9.png" Id="Rfa44a2331aca4118" /><Relationship Type="http://schemas.openxmlformats.org/officeDocument/2006/relationships/notesSlide" Target="/ppt/notesSlides/notesSlide9.xml" Id="Rd5f153c4d9ce40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7975f242046cb" /><Relationship Type="http://schemas.openxmlformats.org/officeDocument/2006/relationships/image" Target="/ppt/media/image10.png" Id="Ra19a7f51d280475a" /><Relationship Type="http://schemas.openxmlformats.org/officeDocument/2006/relationships/notesSlide" Target="/ppt/notesSlides/notesSlide10.xml" Id="R52d8c95fcebf41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58b148df34911" /><Relationship Type="http://schemas.openxmlformats.org/officeDocument/2006/relationships/image" Target="/ppt/media/image11.png" Id="R90a6e37dfb1d4638" /><Relationship Type="http://schemas.openxmlformats.org/officeDocument/2006/relationships/notesSlide" Target="/ppt/notesSlides/notesSlide11.xml" Id="Rfb855d3b0dc24a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4c4b2fda14f61" /><Relationship Type="http://schemas.openxmlformats.org/officeDocument/2006/relationships/image" Target="/ppt/media/image12.png" Id="Rb9962a6241d147d9" /><Relationship Type="http://schemas.openxmlformats.org/officeDocument/2006/relationships/notesSlide" Target="/ppt/notesSlides/notesSlide12.xml" Id="R80c0b3a5f06041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e5b6dbcf04163" /><Relationship Type="http://schemas.openxmlformats.org/officeDocument/2006/relationships/image" Target="/ppt/media/image13.png" Id="R9846b5cfb4e144af" /><Relationship Type="http://schemas.openxmlformats.org/officeDocument/2006/relationships/notesSlide" Target="/ppt/notesSlides/notesSlide13.xml" Id="R54b0bb6cda0d42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cca9f4e1c460b" /><Relationship Type="http://schemas.openxmlformats.org/officeDocument/2006/relationships/image" Target="/ppt/media/image14.png" Id="R27bc791cf17345c9" /><Relationship Type="http://schemas.openxmlformats.org/officeDocument/2006/relationships/notesSlide" Target="/ppt/notesSlides/notesSlide14.xml" Id="R2cde9343f1c946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796b15507479e" /><Relationship Type="http://schemas.openxmlformats.org/officeDocument/2006/relationships/image" Target="/ppt/media/image15.png" Id="Rf2a1f8a2ed774827" /><Relationship Type="http://schemas.openxmlformats.org/officeDocument/2006/relationships/notesSlide" Target="/ppt/notesSlides/notesSlide15.xml" Id="Re8ec8479762d4d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c1ceb98cf4a87" /><Relationship Type="http://schemas.openxmlformats.org/officeDocument/2006/relationships/image" Target="/ppt/media/image16.png" Id="Rda1c3621f0c44eb2" /><Relationship Type="http://schemas.openxmlformats.org/officeDocument/2006/relationships/notesSlide" Target="/ppt/notesSlides/notesSlide16.xml" Id="R1655200c44b247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5109de1034f4d" /><Relationship Type="http://schemas.openxmlformats.org/officeDocument/2006/relationships/image" Target="/ppt/media/image17.png" Id="Recab9f32dc5f4362" /><Relationship Type="http://schemas.openxmlformats.org/officeDocument/2006/relationships/notesSlide" Target="/ppt/notesSlides/notesSlide17.xml" Id="Racc1aa7e21d344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2d0c031274a00" /><Relationship Type="http://schemas.openxmlformats.org/officeDocument/2006/relationships/image" Target="/ppt/media/image18.png" Id="R050d39fab6b74b01" /><Relationship Type="http://schemas.openxmlformats.org/officeDocument/2006/relationships/notesSlide" Target="/ppt/notesSlides/notesSlide18.xml" Id="R001d2bef4c6f43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99E54-3211-41FE-8A5E-90E2E261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7f20217aa4ed1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C6737-5FB2-49D2-8309-49B778E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ПРЕДЛОЖЕНИЕ ДЛЯ ДИТ МОСКВЫ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43EBA-FEE2-42A0-BDF6-FAB16EE2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239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5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Городская фабрика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5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ИИ-агентов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83648-9970-47AD-BFF1-C70ED5DA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0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Совместная технологическая платформа, которой управляет город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10D75-B84F-47CD-B6E7-1FECCFC8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6205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AF0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E467D-197D-471D-97DA-77E82938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286000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D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AC0D7-3ECC-4649-9920-E2C868F7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F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73CCC-1802-4016-9118-3F88E8BD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01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DIT × OXTECH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D7FA7-A197-49B3-BF0C-FC5FB830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7D74B-DFBE-4091-94CF-E32D3509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Технологическое партнёрство · открытые протоколы · собственный контур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F78C4-72A6-494B-BEA2-E7D4C15A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531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20.07.2026</a:t>
            </a:r>
          </a:p>
        </p:txBody>
      </p:sp>
    </p:spTree>
    <p:extLst>
      <p:ext uri="{BB962C8B-B14F-4D97-AF65-F5344CB8AC3E}">
        <p14:creationId xmlns:p14="http://schemas.microsoft.com/office/powerpoint/2010/main" val="1499385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1854f15454113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1B4CC-8761-4462-A1D0-533B3846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СТРАТЕГИЧЕСКИЙ ВЫБОР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42B46-5B8E-46D8-8D3E-D520AFBE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AB993-DBDC-4003-922B-FC645E15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Основание: концепция городской фабрики агентов,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77B56-5DEA-4890-9584-BD555C15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Городу нужен не ещё один помощник. Нужен слой исполнения процессов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06DA5-7A90-40AC-9E55-C7DE9425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Ответ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E58F2-7A74-47CF-88D6-2DDA5952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30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F6D93-5172-4FB9-8A5C-B3720238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Задача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90677-3E08-4596-85B1-AA394704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30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02B8F-CE4C-4CE1-8541-328C2CB5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28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Процесс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2C702-A083-4F57-B085-547D4F28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3124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F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44439-8E2F-4676-8FE4-192A011E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Модель</a:t>
            </a:r>
            <a:r>
              <a:rPr sz="187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 отвечает. </a:t>
            </a:r>
            <a:r>
              <a:rPr sz="1875" b="1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Агент</a:t>
            </a:r>
            <a:r>
              <a:rPr sz="187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 выполняет задачу. </a:t>
            </a:r>
            <a:r>
              <a:rPr sz="1875" b="1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Система агентов</a:t>
            </a:r>
            <a:r>
              <a:rPr sz="187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 ведёт процесс между ведомствами, данными и людьми.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8B4D2-BA36-426D-A2D7-376B6EB7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4394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F2640-2BA6-46F1-BD14-8F9479EE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95925"/>
            <a:ext cx="994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Стратегический вопрос — кто владеет этим слоем: город или внешний вендор?</a:t>
            </a:r>
          </a:p>
        </p:txBody>
      </p:sp>
    </p:spTree>
    <p:extLst>
      <p:ext uri="{BB962C8B-B14F-4D97-AF65-F5344CB8AC3E}">
        <p14:creationId xmlns:p14="http://schemas.microsoft.com/office/powerpoint/2010/main" val="108783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0373E-4D64-4C66-93A1-ECEED4B6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89f9f72f34c44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7D48A-FB13-4D78-8072-1E709BE5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ОСНОВАНИЕ ДЛЯ ПАРТНЁРСТВА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11179-1FE4-4093-B994-166957CB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E4B01-CDFF-425A-8AA8-91080425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Источник: сверка платформы с кодом и живой системой, 20.07.2026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7C469-20C7-4B55-B650-EACE13FF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Oxtech уже работает как система агентов — не как концепт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BB26B-6B5A-4003-B9B8-3825F6B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F4390-33B6-49CE-9055-082C4991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шаблонов агентов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в единой кодовой базе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E582C-9530-4CE6-93BC-C9645994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0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0BC29-0C1F-422C-9194-C9F8DE94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A4C47-EBC8-4358-9E55-4A1DD8F6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242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конфигураций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в production-системе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9CA83-1BF2-49B4-B59E-53BF7264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0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B415C-5510-4C20-A002-A19E3EBD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5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7B94B-CAA3-45FC-A49E-8187F556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агентов реально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отвечают по A2A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47C88-A0F7-4374-981F-DE304D23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0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FF678-A350-4153-B662-5F273314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24359-F61C-4FC7-9DF6-F28CB6E2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MCP-инструментов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в общем Portal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46343-96D9-4D92-BBF4-0552358D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147 инструментов во всех контурах: Portal + Keylink + Converter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DA5AF-CD1E-4CC8-9E0C-85823946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7823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96375-CD88-4056-A859-BB94F4D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1032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Честная граница: production сегодня использует OpenAI через шлюз; российские модели — следующий интеграционный контур.</a:t>
            </a:r>
          </a:p>
        </p:txBody>
      </p:sp>
    </p:spTree>
    <p:extLst>
      <p:ext uri="{BB962C8B-B14F-4D97-AF65-F5344CB8AC3E}">
        <p14:creationId xmlns:p14="http://schemas.microsoft.com/office/powerpoint/2010/main" val="1715213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c47e1d224422f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215AA-20F6-45D4-BC9F-5250D8F1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КАК УСТРОЕНО СЕГОДНЯ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7B733-FF15-4F2D-B283-2D85F97C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332C9-9D13-4AE4-A7FC-2080D35A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Источник: wiki/entities/oxtech-platform; аудит кода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230E6-3FC2-47F3-B88C-80E66185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Архитектура отделяет координацию, данные и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1EA40-EE5A-4D3D-9DA6-AEA21513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8097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F9B72-164F-491F-8B17-B0CA676B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Каналы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5036F-C018-4856-9999-E3F404C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веб-чат · почта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мессенджеры · 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6EB82-B398-411D-9C4D-752FB061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2286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73FF2-4495-424C-BDB3-28A965F5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622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Orchestrator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815D9-972D-4AA8-A987-63629423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план · распределение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проверка результата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F34B4-5AAF-4D21-B8A3-7A15245F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5717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208C8-158E-4E28-9A9B-EABE78C8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622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Специалисты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47576-5B42-434C-9845-FA1B68FE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2228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Reader · Writer · Analyst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Financer · Mailer · другие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F5E2C-864E-457F-99A7-F7962314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AF08B"/>
          </a:solidFill>
          <a:ln xmlns:a="http://schemas.openxmlformats.org/drawingml/2006/main" w="9525">
            <a:solidFill>
              <a:srgbClr val="5AF0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512F6-483A-409D-B3CF-A9E1566E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336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300AA-B962-4DDA-B29E-9E9640A6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документ · проверка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действие в системе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33650" y="3143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29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677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CA451-0A72-4CA1-A9ED-80970C33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48200"/>
            <a:ext cx="23812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B9F7D2"/>
          </a:solidFill>
          <a:ln xmlns:a="http://schemas.openxmlformats.org/drawingml/2006/main" w="9525">
            <a:solidFill>
              <a:srgbClr val="B9F7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D3570-CCB2-4784-86B2-AF157EBB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MCP / данные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0F589-D8EE-4EEC-9D5A-6C8F0407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435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67 инструментов Portal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60846-DF9F-4DC7-BB14-F95D32C9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2190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5E3FF"/>
          </a:solidFill>
          <a:ln xmlns:a="http://schemas.openxmlformats.org/drawingml/2006/main" w="9525">
            <a:solidFill>
              <a:srgbClr val="E5E3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95AEAA-00C5-44C3-B9C7-81D10001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LLM-шлюз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D0F1CC-8BBB-422C-BE85-C4CD3AE3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единая точка моделей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AC306-864D-4824-B50E-BB8358A3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48200"/>
            <a:ext cx="2476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DBD76-2F0A-4C65-A5CF-74B3A9DB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01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Manager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E901A5-EB31-4F49-8182-76E5BAC3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435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сборка · деплой · метрики</a:t>
            </a:r>
          </a:p>
        </p:txBody>
      </p:sp>
      <p:cxnSp>
        <p:nvCxnSpPr>
          <p:cNvPr id="63" name=""/>
          <p:cNvCxnSpPr>
            <a:stCxn xmlns:a="http://schemas.openxmlformats.org/drawingml/2006/main" id="2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943475" y="3886200"/>
            <a:ext cx="24384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9D7CF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24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7381875" y="3886200"/>
            <a:ext cx="20955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F79FF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7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7381875" y="3886200"/>
            <a:ext cx="280987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068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9F5AE6-F23E-42FC-AC87-8594E929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003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A2A</a:t>
            </a:r>
          </a:p>
        </p:txBody>
      </p:sp>
    </p:spTree>
    <p:extLst>
      <p:ext uri="{BB962C8B-B14F-4D97-AF65-F5344CB8AC3E}">
        <p14:creationId xmlns:p14="http://schemas.microsoft.com/office/powerpoint/2010/main" val="1568153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E3496-D1A7-4D64-832F-CC2FAE4C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f73c09e7c4427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D7BE8-8162-45E5-8099-1932B243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ТЕХНОЛОГИЧЕСКОЕ ПРЕИМУЩЕСТВО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552EA-DE8B-4BAC-920B-056EC953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99F93-8105-48BD-954C-DC2C7714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Источник: единая кодовая база агентов Oxtech, аудит 20.07.2026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F84D8-3EBF-4F7F-913C-F945AC4D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Один код агента — множество городских специальностей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BB02E-076A-4105-B107-9AB3893E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РОЛЬ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F676A-EAEA-4A4A-BCF0-8F6FB9D8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86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CC6C0-F735-4E48-A2B5-D52CCF15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86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rPr>
              <a:t>ИНСТРУМЕНТЫ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0227D-B595-48B8-8E9C-0D444BFF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518AB-49BD-40F2-8E8D-3509B3ED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860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ПРАВА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98D7D-58CC-44B1-A9A8-FC2D0135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956AD-17E2-4198-BAD0-28031D78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7F7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7F79FF"/>
                </a:solidFill>
                <a:latin typeface="Helvetica Neue"/>
                <a:ea typeface="Helvetica Neue"/>
                <a:cs typeface="Helvetica Neue"/>
              </a:rPr>
              <a:t>МОДЕЛЬ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3BCA6-C72D-403C-B365-27BD1A57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A9B74-1ED5-4D67-8F9D-F2439E24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F5BC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5BC4B"/>
                </a:solidFill>
                <a:latin typeface="Helvetica Neue"/>
                <a:ea typeface="Helvetica Neue"/>
                <a:cs typeface="Helvetica Neue"/>
              </a:rPr>
              <a:t>КОМНАТА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25C42-3FD4-4D96-A0D2-F5EB1524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D3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F9D0A-BA61-4821-B995-0F8C2BA2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Новая специальность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DAE00-6186-4DD4-8BBC-07CB047E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= конфигурация, а не новая разработка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3D79B-081F-4131-830F-B8BD09F1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Reader · Reviewer · Financer · Project Manager · десятки будущих городских ролей</a:t>
            </a:r>
          </a:p>
        </p:txBody>
      </p:sp>
    </p:spTree>
    <p:extLst>
      <p:ext uri="{BB962C8B-B14F-4D97-AF65-F5344CB8AC3E}">
        <p14:creationId xmlns:p14="http://schemas.microsoft.com/office/powerpoint/2010/main" val="1019810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5cb5f26c24056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8F859-A9A5-4B80-B7E9-5981ACAF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ЖИВАЯ ОРКЕСТРАЦИЯ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BA197-6D69-4C34-A5BC-A20CB28C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453E3-E5DA-43B2-B893-3BEFD53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Источник: wiki/concepts/orchestration; аудит кода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D3E4F-0004-4595-9E02-140DAF09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Оркестратор превращает запрос в проверяемый план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C8DB1-D2CB-4CB4-83F0-DFB8F6B7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866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C1737-37D4-4B07-95C3-8FF7E7D9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Запрос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03080-C544-434C-8B99-A3A0FDCF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цель и контекст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5806D-4827-4C97-BBBD-71230E76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24150"/>
            <a:ext cx="1866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D9479-79FB-4C43-8560-0CE4EC5E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86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AB068-985F-4774-9F15-8C91B73A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шаги и зависимости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B0776-E9B4-4261-85F9-8394E298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866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2EA9D-6FB5-44A7-9D43-CE5F9637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86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Параллельно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C0614-C3A3-475C-93E2-A9DC137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профильные агенты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4D44B-4924-4BD7-8343-AFA5CDDE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866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F7B8B-8DE2-4474-8F89-65EDD22D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86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ECE53-91B8-4BC1-AFDB-C5A06571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confidence и реплан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E2AE7-0858-41C3-A983-5EB1F651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866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3C8BB-5591-4E33-BE7C-F5B7979D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86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2F455-A6DD-46F1-8494-ABC542ED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собранный ответ</a:t>
            </a:r>
          </a:p>
        </p:txBody>
      </p: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7650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8155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8660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39165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BF96F-88B0-4E03-BDB8-4F27793C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A6BA8-ACAA-4F25-9DB7-9B389EFE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906DB4-DACA-4072-BA2E-E4D656F4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82DD7E-5BB5-454E-B602-2821C2DA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16C61-75E3-4F3B-BE1F-C9F636C9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F976C7-C3BE-4B83-A545-2247DCC1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92964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78E2E-3533-42B6-95F1-F202543E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72050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Уже реализовано: </a:t>
            </a:r>
            <a:r>
              <a:rPr sz="1425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волновое параллельное выполнение, частичный отказ, события оркестрации и трассировка A2A-вызовов.</a:t>
            </a:r>
          </a:p>
        </p:txBody>
      </p:sp>
    </p:spTree>
    <p:extLst>
      <p:ext uri="{BB962C8B-B14F-4D97-AF65-F5344CB8AC3E}">
        <p14:creationId xmlns:p14="http://schemas.microsoft.com/office/powerpoint/2010/main" val="1899912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C6312-C794-410D-A3CA-CAFC223C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6bf162ba246d0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845A6-ABD8-4FF5-8419-82A0B77B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ОТКРЫТЫЕ ПРОТОКОЛЫ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FC8D2-EE09-426B-BF00-091FCC6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2CE9B-A337-4AB8-8A1A-DCB46FAB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Источник: A2A vs MCP; спецификации и аудит Oxtech, 20.07.2026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44260-A677-4C5A-A45C-2D4FBD22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MCP даёт агенту инструменты. A2A превращает агентов в команду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0B52E-29A3-4CDF-B4B6-337ECB38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762500" cy="26670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6CDB6-D619-481F-842B-EB7A194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rPr>
              <a:t>MCP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06834-5E3B-4370-AF77-39740823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вертикальный доступ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1C325-8D90-4420-A940-E08516F0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771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агент → данные и инструменты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вызов функции по схеме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67 инструментов общего Portal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66F26-23FD-4761-9CE5-366EA72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762500" cy="26670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172B26"/>
          </a:solidFill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06ADE-5513-459A-9DBC-52DE66C1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38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A2A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337CA-703A-497D-900E-B8CE6A1D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29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горизонтальная координация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E9B5B-E9CC-4BB2-8E1D-FF48D0F4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3771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агент ↔ агент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задача с жизненным циклом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Agent Card и потоковый ответ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EBD44-A54E-4B3E-8986-A0F00814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29000"/>
            <a:ext cx="72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4050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3C51A-3123-4FC7-84F8-285301A3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Разделение протоколов делает архитектуру расширяемой и проверяемой</a:t>
            </a:r>
          </a:p>
        </p:txBody>
      </p:sp>
    </p:spTree>
    <p:extLst>
      <p:ext uri="{BB962C8B-B14F-4D97-AF65-F5344CB8AC3E}">
        <p14:creationId xmlns:p14="http://schemas.microsoft.com/office/powerpoint/2010/main" val="18174825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92415992d4b91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F91C3-182B-4B4E-A01D-685CBB40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СОВМЕСТНО СОЗДАЁМ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6D180-C79C-4642-B8EF-52E0355C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3B13A-F133-4FB5-9738-B918268F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Основание: концепция городской фабрики агентов,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47644-5F48-4DDB-AAAC-629D484F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Городская фабрика — это ядро, правила выпуска и рынок расширений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F080D-7192-4A28-8A06-E6322288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03251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A0578-3EE1-4302-948E-FEB0F84D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ЭКОСИСТЕМА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1C7D2-9711-46F6-92D6-D35048CE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794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ведомства · университеты · разработчики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E773F-650D-43C6-9C3D-A8B21213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2850"/>
            <a:ext cx="91440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B9F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97A47-E49B-45EA-8024-F0AF0E63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43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ФАБРИКА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39E17-6000-4C8F-8252-A2CED859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песочница · аттестация · зрелость · выпуск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0E3C6-2618-4028-8B64-E2216128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52700"/>
            <a:ext cx="7810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F28CA-E165-46AB-B7D1-36A6262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ЯДРО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70819-64BD-4167-90D8-3098DE1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реестр · оркестрация · A2A · MCP · права · наблюдаемость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2B259-5261-495A-A388-DA39FFE7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899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Oxtech приносит работающее ядро. ДИТ задаёт правила городской эксплуатации.</a:t>
            </a:r>
          </a:p>
        </p:txBody>
      </p:sp>
    </p:spTree>
    <p:extLst>
      <p:ext uri="{BB962C8B-B14F-4D97-AF65-F5344CB8AC3E}">
        <p14:creationId xmlns:p14="http://schemas.microsoft.com/office/powerpoint/2010/main" val="773957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4a2331aca4118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63F88-5B82-40EB-8B8B-D21AA4CA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ГОРОДСКАЯ ТОПОЛОГИЯ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6266D-1C77-4960-AEE1-B73A8309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16357-E06E-44A4-AFB4-ACEFFE3C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Концепция: комнаты и discovery — совместная разработка; базис A2A уже есть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82145-8AAC-4B32-9379-6ACD616B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Комнаты связывают агентов с процессом, данными и правами ведомства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A6964-294C-4352-8EBD-B932C4DB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05050"/>
            <a:ext cx="4381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5CCFD-7B35-4A24-B2A8-28820826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Универсальные агенты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26555-3A95-4530-B803-C8443D19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003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Reader · Writer · Reviewer · Scheduler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F6A93-3CB7-4347-9FE4-5143802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28575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8031F-31D4-4482-BA16-F24C5134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338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Финансы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4FF96-5417-42FE-871B-C0871033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контрольные соотношения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F36BB-323C-424E-ADD0-FCCBC122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28575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3BA0A-DDAF-4747-B0AA-2D1AC87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338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Документы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7B39C-71DE-4AAA-8BE6-2B56C11D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согласование и выпуск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A51A4-7EC9-454E-9642-C5A5B95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71950"/>
            <a:ext cx="28575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F0253-09FA-4EEB-B118-BC01D657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338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Городские сервисы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1450E-B950-4CB2-8CB6-77B5C2C4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672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заявки и межведомственные процессы</a:t>
            </a:r>
          </a:p>
        </p:txBody>
      </p:sp>
      <p:cxnSp>
        <p:nvCxnSpPr>
          <p:cNvPr id="39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2228850" y="3181350"/>
            <a:ext cx="3867150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31813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3181350"/>
            <a:ext cx="3867150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6A1DE-83EE-4771-83C2-DF93AB79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95950"/>
            <a:ext cx="975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6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Вход в комнату = доступ только к разрешённым данным, инструментам и агентам</a:t>
            </a:r>
          </a:p>
        </p:txBody>
      </p:sp>
    </p:spTree>
    <p:extLst>
      <p:ext uri="{BB962C8B-B14F-4D97-AF65-F5344CB8AC3E}">
        <p14:creationId xmlns:p14="http://schemas.microsoft.com/office/powerpoint/2010/main" val="8797537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DF169-BF89-43D8-BBF1-6DD652A9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a7f51d280475a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96658-3D11-47BA-9D53-D2B9BA83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ДОВЕРИЕ ПО УМОЛЧАНИЮ НЕ ВЫДАЁТСЯ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09329-41EB-4078-B9C5-44788237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C38A8-ED74-4F5A-9101-2C22C887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Концепция зрелости агента — совместная разработка на базе Reviewer и метрик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870F1-FDB1-4FD6-B25E-BA0B74A1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Каждый агент проходит управляемый путь до 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C912B-C20E-46FC-823F-78E569A1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98B97-C833-4E24-BCFE-6B30109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0339E-2157-476A-A84F-C1582BA9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Прототип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18A19-1850-44F2-BAFF-2910B625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идея и 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8C3B7-498F-4933-B22A-1CF04E89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8605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973F8-B118-415A-926D-10789AE4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19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7C72B-E618-4A64-AFB6-55097FAE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Песочница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A3A9B-ACC2-4F9F-A702-4623B34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38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тестовые данные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E7957-8DD8-47E3-8DF0-46EB4803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67A3A-8F15-4B6A-A33D-255D0200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12976-C330-4209-942E-C0E0BC47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Аттестован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7B67E-51AC-4B0B-A803-E9D63D80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эталонные задания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F6B70-9653-410B-B76E-49656B64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F08B"/>
          </a:solidFill>
          <a:ln xmlns:a="http://schemas.openxmlformats.org/drawingml/2006/main" w="19050">
            <a:solidFill>
              <a:srgbClr val="5AF0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D8E46-C868-4752-82B5-ADC2E857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49650-84A1-4507-B00B-13C8777E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Production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A7A70-BBF9-4C6E-B426-0C4F8CD2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контур ведомства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3EB17-42AD-4A6F-9637-A2261E1A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8605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A04A8-3C41-4374-A13B-89D2BD4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19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4C73C-B996-4CC0-B19C-16AB4877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Ветеран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CE90C-BCC0-42BD-B6F1-4EEA1A3B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38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стабильная история</a:t>
            </a:r>
          </a:p>
        </p:txBody>
      </p:sp>
      <p:cxnSp>
        <p:nvCxnSpPr>
          <p:cNvPr id="59" name=""/>
          <p:cNvCxnSpPr>
            <a:stCxn xmlns:a="http://schemas.openxmlformats.org/drawingml/2006/main" id="7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1600200" y="3048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1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3848100" y="3048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5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6096000" y="3048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9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8343900" y="30480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B801E0-6E50-48FC-9238-8674A21A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92202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7362D"/>
          </a:solidFill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35A219-0258-4B4C-A38F-90D1990F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95900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Правила допуска и эталонные задания определяет ДИТ; автоматическая оценка помогает, окончательное решение остаётся за человеком.</a:t>
            </a:r>
          </a:p>
        </p:txBody>
      </p:sp>
    </p:spTree>
    <p:extLst>
      <p:ext uri="{BB962C8B-B14F-4D97-AF65-F5344CB8AC3E}">
        <p14:creationId xmlns:p14="http://schemas.microsoft.com/office/powerpoint/2010/main" val="1875700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6e37dfb1d4638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10173-E405-4CAA-B53C-0BE20D4C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МОДЕЛЬНАЯ НЕЗАВИСИМОСТЬ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5391F-2470-4E87-92F8-03CA8DF0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04991-B172-42C9-8CE1-1CFD7610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Источник: wiki/entities/oxmodel; фактическая конфигурация на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03D37-0C28-4CC3-AC1C-F5D8CEAF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Модель выбирается под сценарий — но подключение должно быть доказано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A08AD-FA28-4E99-B820-1E719FBF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476750" cy="280035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5E861-5A97-4A99-AF4D-5B0A21A9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СЕГОДНЯ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32DD6-6E02-4592-B123-2048A07F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OpenAI через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9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единый шлюз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358BA-17CF-47B6-B66E-6AAEAF82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лимиты · токены · раздельный учёт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3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единая точка конфигурации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8BD12-EB52-43B1-A6A2-BB0274C5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5219700" cy="2800350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51D64-5CAF-4C75-A083-B2F9E33B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ЦЕЛЕВОЙ КОНТУР ГОРОДА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E5F95-EA88-4C94-A49D-A05F5AC5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4362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Модели ДИТ +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разрешённые провайдеры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D1B6C-2AE4-43CF-BDB5-1D697A5B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19600"/>
            <a:ext cx="4362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российские коммерческие · локальные open source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27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точечно внешние модели — только в разрешённых сценариях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539F3-B5A7-4981-A39E-564BBDBE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433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31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5C334-6FA5-4A91-AF32-C0D79873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Архитектура готова к смене провайдера; интеграция конкретной модели подтверждается только тестом в контуре.</a:t>
            </a:r>
          </a:p>
        </p:txBody>
      </p:sp>
    </p:spTree>
    <p:extLst>
      <p:ext uri="{BB962C8B-B14F-4D97-AF65-F5344CB8AC3E}">
        <p14:creationId xmlns:p14="http://schemas.microsoft.com/office/powerpoint/2010/main" val="332195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62a6241d147d9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56127-25C6-432C-A112-F19F6D5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ОТКРЫТОЕ СРАВНЕНИЕ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01C17-0760-444E-9A0E-52E4F615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4B93A-DAF6-4E99-A683-F5389119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Публичные материалы GigaCowork и аудит Oxtech; состояние на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47D79-D780-4723-A262-2AEC1615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7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GigaCowork автоматизирует сотрудника. Фабрика управляет экосистемой города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29F4C-B63E-4831-89FD-25ABA492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305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0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DD370-498D-401A-A2C4-F1CF0F0A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381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0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GigaCowork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B1895-6D96-4A7D-ABD6-DDF3BB27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F0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Городская фабрика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A42ED-3D8C-4FF8-B93C-C5677DB1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Модель владения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01DB3-A73B-4DA1-BC8E-3ACDF560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закрытый облачный сервис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92498-F7D1-4C57-8E83-DD6CBD80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собственное ядро и правила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FFC86-DE9F-4DD6-AC28-F6FEBEBE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Целевая задача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289B0-A867-4D9E-ABE3-CFAC1B22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956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self-service сотрудника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3A530-048D-4920-90E6-09F39045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956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межведомственные процессы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A7E2D-665C-4A7D-85B2-12D4981F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Модели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2CBAC-C19B-480D-9AF6-83E74C54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экосистема GigaChat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EC5D1-B7DA-4440-87FE-81EB10DF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290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выбор модели под сценарий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4343B-D967-451F-96D9-5781DD78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Координация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85006-5790-4A5D-8CCA-71428AD9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624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межагентный протокол не раскрыт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06E2C-A8D8-4A30-AC41-90387EFF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624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открытый A2A + 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9E8D7-B53A-422C-8127-C537FD92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Развитие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77995-A523-4C4C-BD50-D37F41EC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958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roadmap вендора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C62B2-D8A2-4B01-9F00-72D68250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958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ДИТ + Oxtech + рынок расширений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F26AEE-3446-4D14-8C80-1DD23148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Контур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149E05-0F31-4068-B7F6-DDAC602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292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публично заявлено облако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461DD5-7440-4A46-9AC9-FC3F6AA1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2925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r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on-premise как целевая схема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B38FE4-F3E5-410E-A8FD-4E4EDB41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Сравнение основано на публичной информации о GigaCowork; детали закрытой архитектуры могут измениться.</a:t>
            </a:r>
          </a:p>
        </p:txBody>
      </p:sp>
    </p:spTree>
    <p:extLst>
      <p:ext uri="{BB962C8B-B14F-4D97-AF65-F5344CB8AC3E}">
        <p14:creationId xmlns:p14="http://schemas.microsoft.com/office/powerpoint/2010/main" val="19567373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B5AC0-CC7F-4FE3-92F7-03DF6B9C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6b5cfb4e144af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FB3AA-5FE1-418D-8D16-BB4E640D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МОДЕЛЬ ПАРТНЁРСТВА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B4578-3C09-4596-8FBE-7CC6C0B9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E76AF-A5F5-46C3-8FDE-F6BD8482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Основание: концепция совместной городской платформы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69102-3398-4490-9959-089F0F34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Не поставка продукта, а совместное развитие технологического ядра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0E7AE-D592-496F-AD04-8B3AC613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572000" cy="27241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AF08B"/>
          </a:solidFill>
          <a:ln xmlns:a="http://schemas.openxmlformats.org/drawingml/2006/main" w="9525">
            <a:solidFill>
              <a:srgbClr val="5AF0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47F9E-8044-4DE1-A964-AFC81E05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ДИТ МОСКВЫ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06B56-7CF2-4B66-8F36-E625A62A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4076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владелец инсталляции и данных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оператор и правила допуска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приоритеты городских процессов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D7FB5-3C4A-4324-B2C8-9D12F289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3238500" cy="27241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00D79-A09C-43AD-A50E-A76D4C87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84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OXTECH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F2D3E-4FED-4BD2-AFE4-C3CEEC08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8050"/>
            <a:ext cx="2743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архитектура и ядро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maintainer и обучение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ревью расширений и SLA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EB973-FD9E-4D7B-B111-0BD934A7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2590800" cy="2724150"/>
          </a:xfrm>
          <a:prstGeom xmlns:a="http://schemas.openxmlformats.org/drawingml/2006/main" prst="roundRect">
            <a:avLst>
              <a:gd name="adj" fmla="val 8088"/>
            </a:avLst>
          </a:prstGeom>
          <a:solidFill xmlns:a="http://schemas.openxmlformats.org/drawingml/2006/main">
            <a:srgbClr val="17362D"/>
          </a:solidFill>
          <a:ln xmlns:a="http://schemas.openxmlformats.org/drawingml/2006/main" w="9525">
            <a:solidFill>
              <a:srgbClr val="1736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A2275-1231-403E-98BD-C98B26BA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8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ЭКОСИСТЕМА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94F91-5904-4103-BCBC-43ACCE19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университеты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команды ведомств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поставщики навыков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B9141-2382-4373-994F-1A46F80A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72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Город определяет правила. Oxtech отвечает за инженерную целостность ядра.</a:t>
            </a:r>
          </a:p>
        </p:txBody>
      </p:sp>
    </p:spTree>
    <p:extLst>
      <p:ext uri="{BB962C8B-B14F-4D97-AF65-F5344CB8AC3E}">
        <p14:creationId xmlns:p14="http://schemas.microsoft.com/office/powerpoint/2010/main" val="14532424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c791cf17345c9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4FC5C-1F9F-424D-9125-EF697C10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ПЕРВЫЙ ПРОВЕРЯЕМЫЙ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66E64-B1FC-4848-9B16-E03EABAF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CAA3D-3C40-4666-9973-AE2ECC3B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Основание: концепция пилота по контрольным соотношениям документов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F7223-CDDF-4C83-B3D7-B13FF4DA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Контрольные соотношения показывают ценность всей системы, а не одного агента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43166-DBB4-42F7-BB9D-CCDDD4B8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FF4D9-0C68-47EE-8057-04A01FB5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289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Пакет документов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8ADC6-5253-49F2-83DB-5D70D32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Reader извлекает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структуру и значения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ACE93-E97E-435E-AAD5-0D61D41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1DEAE-E6B4-4F92-BFDD-4395C46E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289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Проверка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49B96-D7D2-410A-8297-16466987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623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Reviewer + Financer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сверяют правила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E24B7-E76D-4904-AE40-C354AFBA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5AF08B"/>
          </a:solidFill>
          <a:ln xmlns:a="http://schemas.openxmlformats.org/drawingml/2006/main" w="9525">
            <a:solidFill>
              <a:srgbClr val="5AF0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8FE8B-7CAC-4FDA-850D-B890B109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289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Протокол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A3463-BE83-4664-8535-EAA25447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Writer формирует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расхождения и основания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95650" y="338137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334250" y="338137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D31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E623A-02CF-4406-BCA1-C1B3F3D2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Измеряем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A821A-FD4D-4DA3-9D48-74B184F7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96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время проверки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18BC8-8264-4844-A8E9-B4061DC4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долю найденных расхождений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B3FCC-B6E1-4EAF-ACC5-5DD97D88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19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нагрузку на сотрудников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CE978-2E12-4301-8F62-95B6D1BF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553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68E3D-4082-476F-8D4A-95B5040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1013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Сценарий проверяет оркестрацию, доступ к данным, качество и наблюдаемость в одной задаче.</a:t>
            </a:r>
          </a:p>
        </p:txBody>
      </p:sp>
    </p:spTree>
    <p:extLst>
      <p:ext uri="{BB962C8B-B14F-4D97-AF65-F5344CB8AC3E}">
        <p14:creationId xmlns:p14="http://schemas.microsoft.com/office/powerpoint/2010/main" val="731484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809E6-DE11-4CFD-AC3A-902B5DAD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1f8a2ed774827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129E1-E74F-4550-A953-B0F7C174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ИТОГ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4AD2B-3FB2-4683-928C-35FB3993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09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5000"/>
              </a:lnSpc>
              <a:buNone/>
              <a:def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Город может владеть</a:t>
            </a:r>
          </a:p>
          <a:p xmlns:a="http://schemas.openxmlformats.org/drawingml/2006/main">
            <a:pPr algn="l">
              <a:lnSpc>
                <a:spcPct val="85000"/>
              </a:lnSpc>
              <a:buNone/>
              <a:def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технологическим слоем агентов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4AABB-1A1E-4860-9E9F-9D81BA50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143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F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013B2-30D9-4FDE-9818-77E33635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Oxtech готов отвечать за инженерную целостность ядра и развивать его вместе с ДИТ.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48E70-549C-4DE0-86DC-13E6C182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1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Для обсуждения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0DA01-6B09-4783-97C8-F6C18E24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Границы открытого ядра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Правила аттестации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Первый процесс для проверки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AD821-228A-492D-80E5-7E085983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1A46A-F949-4B92-B569-A37CCEFF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oxteam.me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84FD0-3954-4BA1-83CF-46D52279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1722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2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ДИТ Москвы × Oxtech</a:t>
            </a:r>
          </a:p>
        </p:txBody>
      </p:sp>
    </p:spTree>
    <p:extLst>
      <p:ext uri="{BB962C8B-B14F-4D97-AF65-F5344CB8AC3E}">
        <p14:creationId xmlns:p14="http://schemas.microsoft.com/office/powerpoint/2010/main" val="5727700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c3621f0c44eb2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A6E36-234E-4C4D-A501-CC905009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ПРИЛОЖЕНИЕ · ФАКТЫ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18F5C-52E6-4386-8B10-748AE290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0A194-08DC-47D8-B5C0-28BF1404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Источник: аудит кода и живой системы,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C527E-8B82-4FE5-9EB7-71AD928C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Что подтверждено кодом и эксплуатацией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E4B28-C7B3-475D-8960-87DB2536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0139B-F84C-4A0A-8C9B-43B4BD76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Агенты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2C1DF-7FA3-4C6A-865C-4CEC3C11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17 шаблонов · 13 production-конфигураций · 11 отвечают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C89C4-1D65-4EF7-BFD3-FE19D20E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7A151-EAC0-4E01-AAAD-D210ECA4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00F93-F99D-412A-ABBC-A53A233E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813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Инструменты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B0D62-56A6-4314-AC90-EDB8BB3D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67 Portal MCP · 75 Keylink MCP · 5 Converter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6DBAA-2443-4DD9-B6A1-05075456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33775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C63A9-F21C-4959-96D9-559E4FCA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8FE80-A2C8-4A9A-8FAC-1FD5037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Оркестрация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0A8A9-F1D3-4A9D-9ED2-7C14AD87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38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параллельные волны · частичный отказ · репланирование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51AFD-0DBF-4B3F-A5B4-D153F53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21E37-2266-40D8-A200-345DA279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8FB07-1F43-430E-BC42-B3B21DD3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481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Эксплуатация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9A4D5-7F36-4A49-93DE-181CA588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672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сборка · деплой · health-check · метрики · очистка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A621C-57D9-40FE-826A-11AB28D7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00625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3D70D-4B0A-4B52-BF43-5CC6EB66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600C6-5441-4B72-9B88-8431D54D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Контроль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1B0B3-330D-49D1-80C4-201046DE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006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allowlist инструментов агента · токеновые лимиты · траектории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E9CD4-B5EA-439C-A2D9-63CDC2B1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90718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F0217-9C89-49C4-A554-B82D79FC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9334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b9f32dc5f4362"/>
          <a:stretch xmlns:a="http://schemas.openxmlformats.org/drawingml/2006/main"/>
        </p:blipFill>
        <p:spPr>
          <a:xfrm xmlns:a="http://schemas.openxmlformats.org/drawingml/2006/main">
            <a:off x="828675" y="3333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B77B4-E4DC-4709-80C1-D2CA3BF0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ПРИЛОЖЕНИЕ · ГРАНИЦЫ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0AE17-8348-4AF6-A58D-5A99EDEF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243FF-9BEF-42A6-9AF0-D65C2FA0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A5AEA5"/>
                </a:solidFill>
                <a:latin typeface="Helvetica Neue"/>
                <a:ea typeface="Helvetica Neue"/>
                <a:cs typeface="Helvetica Neue"/>
              </a:rPr>
              <a:t>Источник: аудит Oxtech и концепция городской фабрики, 20.07.2026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61BB7-E6E3-4D8C-8A0B-E39A15B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Работающее ядро и совместная разработка разделены явно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DD69D-5AB5-43CE-9D0B-6D7BA99B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РАБОТАЕТ СЕЙЧАС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41181-A7D7-41FB-A4E0-96B0E931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9D7CF"/>
                </a:solidFill>
                <a:latin typeface="Helvetica Neue"/>
                <a:ea typeface="Helvetica Neue"/>
                <a:cs typeface="Helvetica Neue"/>
              </a:rPr>
              <a:t>СОЗДАЁМ ВМЕСТЕ С 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4FC7D-D3E1-457A-A6E3-2C9AF744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  единая кодовая база агентов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DA319-3FD1-4771-88BC-975CE512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  A2A-вызовы и MCP-инструменты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EFA69-11A3-48A9-8B20-D43A1F0A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  Portal, Manager и LLM-шлюз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C2062-EB0A-4116-B84D-7AC66576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  метрики, токены и траектории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FA2C0-27B0-472D-8DE5-3E8D615B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  прикладные контуры OxDocs и Keylink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9E6A7-C98F-44E3-95C7-86BD3ED7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 discovery и права по комнатам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B6E7B-7E0C-4E6E-AD1D-35CEFE4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 аттестация и шкала зрелости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C5AB9-DFF9-4467-97FD-0A352F9B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 городская витрина навыков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70298-C4B6-4C77-9A55-6178B874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 интеграция моделей ДИТ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FBE9F-426B-4D08-AE15-B2CD70F1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  усиленная отказоустойчивость city-grade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34F30-2577-441D-B1AF-617A1ECA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431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80BA7-312C-49AE-A553-3E4DF404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0"/>
            <a:ext cx="8534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362D"/>
          </a:solidFill>
          <a:ln xmlns:a="http://schemas.openxmlformats.org/drawingml/2006/main" w="9525">
            <a:solidFill>
              <a:srgbClr val="123D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5598B-C020-4973-8884-BCC47548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48350"/>
            <a:ext cx="807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42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Технологическое превосходство — это способность честно управлять границами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373235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d39fab6b74b01"/>
          <a:stretch xmlns:a="http://schemas.openxmlformats.org/drawingml/2006/main"/>
        </p:blipFill>
        <p:spPr>
          <a:xfrm xmlns:a="http://schemas.openxmlformats.org/drawingml/2006/main">
            <a:off x="800100" y="295275"/>
            <a:ext cx="64770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DCE7B-28E5-423C-87B4-3E4FB48A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ПРИЛОЖЕНИЕ · ОСНОВАНИЕ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E234B-D0D8-4166-882C-CBAC3A0C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D230A-3B20-4619-83A6-EE5FF886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Роспатент RU 2026613582; внутренний аудит и wiki Oxtech, 20.07.2026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0B45D-9ECC-461B-A68D-3AD4DD19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4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Правовая основа есть; закупочный статус требует отдельной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B0E51-662E-4914-ADC3-1A2975A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93395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09211B"/>
          </a:solidFill>
          <a:ln xmlns:a="http://schemas.openxmlformats.org/drawingml/2006/main" w="9525">
            <a:solidFill>
              <a:srgbClr val="0921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6E7AE-AC61-4088-89D2-3D3D8015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5AF08B"/>
                </a:solidFill>
                <a:latin typeface="Helvetica Neue"/>
                <a:ea typeface="Helvetica Neue"/>
                <a:cs typeface="Helvetica Neue"/>
              </a:rPr>
              <a:t>RU 2026613582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AF904-FE7E-4523-97D2-49B09917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«Oxtech Agents»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41C97-F426-425F-AD2F-67885579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Правообладатель — ООО «ОКСТЕХ»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B9F7D2"/>
                </a:solidFill>
                <a:latin typeface="Helvetica Neue"/>
                <a:ea typeface="Helvetica Neue"/>
                <a:cs typeface="Helvetica Neue"/>
              </a:rPr>
              <a:t>Регистрация — 06.02.2026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875C3-40AB-49C5-BC7E-B921EDB4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Что важно различать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37882-D951-4EA3-ADA4-8856868C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Регистрация программы в Роспатенте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72DE8-BCB3-4096-A3E3-4BA32E79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0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23D31"/>
                </a:solidFill>
                <a:latin typeface="Helvetica Neue"/>
                <a:ea typeface="Helvetica Neue"/>
                <a:cs typeface="Helvetica Neue"/>
              </a:rPr>
              <a:t>подтверждена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C15F6-35F2-4BCA-9F7D-E2D8505E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98F4B-A84F-4781-8F7E-FBA9DB07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30F"/>
                </a:solidFill>
                <a:latin typeface="Helvetica Neue"/>
                <a:ea typeface="Helvetica Neue"/>
                <a:cs typeface="Helvetica Neue"/>
              </a:rPr>
              <a:t>Реестр российского ПО Минцифры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3745D-7EE2-4555-8C36-7F3FC524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0" i="0">
                <a:solidFill>
                  <a:srgbClr val="FF5C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F5C57"/>
                </a:solidFill>
                <a:latin typeface="Helvetica Neue"/>
                <a:ea typeface="Helvetica Neue"/>
                <a:cs typeface="Helvetica Neue"/>
              </a:rPr>
              <a:t>статус не подтверждён доступными материалами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B7EDA-7FC0-42E1-8C1C-1E3D87ED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7068"/>
                </a:solidFill>
                <a:latin typeface="Helvetica Neue"/>
                <a:ea typeface="Helvetica Neue"/>
                <a:cs typeface="Helvetica Neue"/>
              </a:rPr>
              <a:t>Основные источники: презентация Oxtech, аудит кодовой базы и живой системы, свидетельство Роспатента, публичное исследование GigaCowork, концепция фабрики для ДИТ.</a:t>
            </a:r>
          </a:p>
        </p:txBody>
      </p:sp>
    </p:spTree>
    <p:extLst>
      <p:ext uri="{BB962C8B-B14F-4D97-AF65-F5344CB8AC3E}">
        <p14:creationId xmlns:p14="http://schemas.microsoft.com/office/powerpoint/2010/main" val="1494075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2026-07-20T19:20:08.5440000Z</dcterms:created>
  <dcterms:modified xsi:type="dcterms:W3CDTF">2026-07-20T19:20:08.5440000Z</dcterms:modified>
</coreProperties>
</file>