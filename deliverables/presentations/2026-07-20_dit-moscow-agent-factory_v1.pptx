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Открытие: город стоит перед выбором платформы для ИИ-агентов. Мы предлагаем не продукт в аренду, а собственную фабрику агентов, которой владеет Москва.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называем конкурентов вслух на этом слайде — рамка «аренда vs владение». Прямое сравнение — слайд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элемента предложения. Подчеркнуть: ядро маленькое и проверенное, ценность — в правилах масштабирования.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Тезис Дениса: большая часть бюрократии — формализация неформализованных данных. Агенты снимают именно эту рутину, решение остаётся за человеком.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Ядро уже существует и работает в production Oxtech. Специальность агента = конфигурация. Цифры защитимы: 11 отвечающих агентов + конвертер; 67+75+5 MCP-инструментов.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Метафора городских площадей: площадей несколько, у каждой свои правила входа. Технически: A2A Agent Cards + реестр агентов + права.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Архитектурный аргумент против MCP-центричных платформ (включая GigaCowork — межагентный протокол у них не заявлен). Не преувеличивать: для простых сценариев MCP достаточно, преимущество A2A — на сложных процессах.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«Роддом агентов»: конвейер порождения со шкалой зрелости. Аттестатор на сильнейшей модели — это разрешённый сценарий для передовых моделей (без ПДн).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Ответ на вопрос об импортозамещении: главный контур — модели самого ДИТ. Передовые модели — точечно и только в разрешённых сценариях. Честно: подключение моделей города — работа этапа пилота.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Прямое сравнение по просьбе. Формулировки защитимы: по GigaCowork только публичные данные (запуск на ЦИПР, no-code, MCP-коннекторы, облако). Не утверждаем ничего об их внутренностях.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Ответ на «нужно всё больше агентов и тулов»: город не заказывает каждый навык у вендора, а выращивает рынок. Фабрика гарантирует качество через аттестацию.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Пилот намеренно узкий и измеримый. Не обещаем конкретные проценты заранее — метрики фиксируются до/после на данных ведомства.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Роли: город владеет, Oxtech сопровождает ядро, университеты наполняют. Вендор заменяем — это и есть страховка от вендор-лока.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Закрытие: живая система (можно показать граф оркестрации), оформленные права юрлица, статус в МИК. Призыв: демо + выбор ведомства для пилота.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12.png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17.png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oxtech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9601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Городская фабрика</a:t>
            </a:r>
          </a:p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ИИ-агентов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C9D6DF"/>
                </a:solidFill>
                <a:latin typeface="Calibri"/>
              </a:rPr>
              <a:t>Концепция собственной платформы Москвы: конструктор, комнаты, конвейер агентов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9E50"/>
                </a:solidFill>
                <a:latin typeface="Calibri"/>
              </a:rPr>
              <a:t>Открытый код на Mos.Hub</a:t>
            </a:r>
            <a:r>
              <a:rPr sz="1300" b="0" i="0">
                <a:solidFill>
                  <a:srgbClr val="C9D6DF"/>
                </a:solidFill>
                <a:latin typeface="Calibri"/>
              </a:rPr>
              <a:t>   ·   A2A + MCP   ·   модели города   ·   аттестация агентов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807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9E50"/>
                </a:solidFill>
                <a:latin typeface="Calibri"/>
              </a:rPr>
              <a:t>oxteam.me</a:t>
            </a:r>
          </a:p>
        </p:txBody>
      </p:sp>
      <p:sp>
        <p:nvSpPr>
          <p:cNvPr id="8" name="Oval 7"/>
          <p:cNvSpPr/>
          <p:nvPr/>
        </p:nvSpPr>
        <p:spPr>
          <a:xfrm>
            <a:off x="9966960" y="2011680"/>
            <a:ext cx="1463040" cy="1463040"/>
          </a:xfrm>
          <a:prstGeom prst="ellipse">
            <a:avLst/>
          </a:prstGeom>
          <a:solidFill>
            <a:srgbClr val="20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actory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8089" y="2362809"/>
            <a:ext cx="760780" cy="7607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6283C"/>
                </a:solidFill>
                <a:latin typeface="Calibri"/>
              </a:rPr>
              <a:t>Развилка: аренда экосистемы или собственная платформа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F6B76"/>
                </a:solidFill>
                <a:latin typeface="Calibri"/>
              </a:rPr>
              <a:t>Решение определяет, кто через пять лет управляет ИИ-контуром города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349240" cy="4206240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EC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ck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2084832"/>
            <a:ext cx="356616" cy="3566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37360" y="1984248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6283C"/>
                </a:solidFill>
                <a:latin typeface="Calibri"/>
              </a:rPr>
              <a:t>Платформа вендора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4709159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0" i="0">
                <a:solidFill>
                  <a:srgbClr val="22303C"/>
                </a:solidFill>
                <a:latin typeface="Calibri"/>
              </a:rPr>
              <a:t>Код закрыт — развитие только через roadmap и тарифы поставщика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0" i="0">
                <a:solidFill>
                  <a:srgbClr val="22303C"/>
                </a:solidFill>
                <a:latin typeface="Calibri"/>
              </a:rPr>
              <a:t>Модели и данные — в экосистеме вендора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0" i="0">
                <a:solidFill>
                  <a:srgbClr val="22303C"/>
                </a:solidFill>
                <a:latin typeface="Calibri"/>
              </a:rPr>
              <a:t>Каждый новый агент и интеграция — обращение к вендору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0" i="0">
                <a:solidFill>
                  <a:srgbClr val="22303C"/>
                </a:solidFill>
                <a:latin typeface="Calibri"/>
              </a:rPr>
              <a:t>Смена поставщика через 3–5 лет — фактически новый проект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349240" cy="4206240"/>
          </a:xfrm>
          <a:prstGeom prst="roundRect">
            <a:avLst>
              <a:gd name="adj" fmla="val 9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0" y="192024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key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2084832"/>
            <a:ext cx="356616" cy="3566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52360" y="1984248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6283C"/>
                </a:solidFill>
                <a:latin typeface="Calibri"/>
              </a:rPr>
              <a:t>Собственная платформа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34640"/>
            <a:ext cx="4709159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0" i="0">
                <a:solidFill>
                  <a:srgbClr val="22303C"/>
                </a:solidFill>
                <a:latin typeface="Calibri"/>
              </a:rPr>
              <a:t>Ядро в открытом коде на Mos.Hub — город владеет технологией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0" i="0">
                <a:solidFill>
                  <a:srgbClr val="22303C"/>
                </a:solidFill>
                <a:latin typeface="Calibri"/>
              </a:rPr>
              <a:t>Модели города (в т.ч. дообученные) в своём контуре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0" i="0">
                <a:solidFill>
                  <a:srgbClr val="22303C"/>
                </a:solidFill>
                <a:latin typeface="Calibri"/>
              </a:rPr>
              <a:t>Новые агенты создают свои команды, ведомства и университеты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0" i="0">
                <a:solidFill>
                  <a:srgbClr val="22303C"/>
                </a:solidFill>
                <a:latin typeface="Calibri"/>
              </a:rPr>
              <a:t>Подрядчик заменяем: код, правила и данные остаются у города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5AD"/>
                </a:solidFill>
                <a:latin typeface="Calibri"/>
              </a:rPr>
              <a:t>Oxtech · для ДИТ Москвы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5A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6283C"/>
                </a:solidFill>
                <a:latin typeface="Calibri"/>
              </a:rPr>
              <a:t>Предложение: небольшое ядро + правила расширения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F6B76"/>
                </a:solidFill>
                <a:latin typeface="Calibri"/>
              </a:rPr>
              <a:t>Фабрика агентов, которой владеет город, — вместо коробки, которую город арендует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93592" cy="3977639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96596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ayers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17" y="2152497"/>
            <a:ext cx="404164" cy="4041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971800"/>
            <a:ext cx="2953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6283C"/>
                </a:solidFill>
                <a:latin typeface="Calibri"/>
              </a:rPr>
              <a:t>Ядро-конструктор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20440"/>
            <a:ext cx="295351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22303C"/>
                </a:solidFill>
                <a:latin typeface="Calibri"/>
              </a:rPr>
              <a:t>Универсальный код агента и декларативная спецификация: роль, навыки, инструменты, права. Открытый код на Mos.Hub.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593592" cy="3977639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720" y="196596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etwor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257" y="2152497"/>
            <a:ext cx="404164" cy="404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17720" y="2971800"/>
            <a:ext cx="2953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6283C"/>
                </a:solidFill>
                <a:latin typeface="Calibri"/>
              </a:rPr>
              <a:t>Комнаты и правила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520440"/>
            <a:ext cx="295351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22303C"/>
                </a:solidFill>
                <a:latin typeface="Calibri"/>
              </a:rPr>
              <a:t>Городские площади, где агенты публикуют услуги и находят друг друга. Понятные правила добавления инструментов и навыков.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593592" cy="3977639"/>
          </a:xfrm>
          <a:prstGeom prst="roundRect">
            <a:avLst>
              <a:gd name="adj" fmla="val 9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66760" y="196596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actory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3297" y="2152497"/>
            <a:ext cx="404164" cy="4041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66760" y="2971800"/>
            <a:ext cx="2953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6283C"/>
                </a:solidFill>
                <a:latin typeface="Calibri"/>
              </a:rPr>
              <a:t>Фабрика агентов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520440"/>
            <a:ext cx="295351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22303C"/>
                </a:solidFill>
                <a:latin typeface="Calibri"/>
              </a:rPr>
              <a:t>Конвейер порождения: заявка ведомства → сборка → песочница → аттестация → выпуск. Показатель зрелости каждого агента.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83C"/>
                </a:solidFill>
                <a:latin typeface="Calibri"/>
              </a:rPr>
              <a:t>Принцип: </a:t>
            </a:r>
            <a:r>
              <a:rPr sz="1400" b="0" i="0">
                <a:solidFill>
                  <a:srgbClr val="5F6B76"/>
                </a:solidFill>
                <a:latin typeface="Calibri"/>
              </a:rPr>
              <a:t>новая «специальность» агента — это конфигурация, а не новая разработка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5AD"/>
                </a:solidFill>
                <a:latin typeface="Calibri"/>
              </a:rPr>
              <a:t>Oxtech · для ДИТ Москвы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5A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6283C"/>
                </a:solidFill>
                <a:latin typeface="Calibri"/>
              </a:rPr>
              <a:t>Целевая рутина: формализация неформализованного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F6B76"/>
                </a:solidFill>
                <a:latin typeface="Calibri"/>
              </a:rPr>
              <a:t>Значительная часть работы ведомств — перенос данных из документов в поля систем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4846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22303C"/>
                </a:solidFill>
                <a:latin typeface="Calibri"/>
              </a:rPr>
              <a:t>Документы приходят в свободной форме — письма, сканы, приложения, таблицы.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22303C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22303C"/>
                </a:solidFill>
                <a:latin typeface="Calibri"/>
              </a:rPr>
              <a:t>Сотрудник читает, находит нужные значения, вводит их в формы и сверяет между собой.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22303C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6283C"/>
                </a:solidFill>
                <a:latin typeface="Calibri"/>
              </a:rPr>
              <a:t>Это идеальная работа для агентов: понятный вход, формальный выход, проверяемый результат — человек утверждает итог.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600200"/>
            <a:ext cx="5852160" cy="1207008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89320" y="1883664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ccheck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2939" y="2037283"/>
            <a:ext cx="332841" cy="3328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12280" y="180136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83C"/>
                </a:solidFill>
                <a:latin typeface="Calibri"/>
              </a:rPr>
              <a:t>Контрольные соотношения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167128"/>
            <a:ext cx="4617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5F6B76"/>
                </a:solidFill>
                <a:latin typeface="Calibri"/>
              </a:rPr>
              <a:t>сверка значений между связанными документами и формами отчётности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971800"/>
            <a:ext cx="5852160" cy="1207008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89320" y="3255264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lipboard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939" y="3408883"/>
            <a:ext cx="332841" cy="33284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12280" y="317296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83C"/>
                </a:solidFill>
                <a:latin typeface="Calibri"/>
              </a:rPr>
              <a:t>Комплектность пакетов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538728"/>
            <a:ext cx="4617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5F6B76"/>
                </a:solidFill>
                <a:latin typeface="Calibri"/>
              </a:rPr>
              <a:t>проверка состава документов и заполненности обязательных полей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4343400"/>
            <a:ext cx="5852160" cy="1207008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89320" y="4626864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ayers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2939" y="4780483"/>
            <a:ext cx="332841" cy="33284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12280" y="454456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83C"/>
                </a:solidFill>
                <a:latin typeface="Calibri"/>
              </a:rPr>
              <a:t>Ввод в системы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910328"/>
            <a:ext cx="4617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5F6B76"/>
                </a:solidFill>
                <a:latin typeface="Calibri"/>
              </a:rPr>
              <a:t>перенос данных из неструктурированных источников в городские ИС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5715000"/>
            <a:ext cx="5852160" cy="685800"/>
          </a:xfrm>
          <a:prstGeom prst="roundRect">
            <a:avLst>
              <a:gd name="adj" fmla="val 9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5843016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9E50"/>
                </a:solidFill>
                <a:latin typeface="Calibri"/>
              </a:rPr>
              <a:t>Пилот: </a:t>
            </a:r>
            <a:r>
              <a:rPr sz="1300" b="0" i="0">
                <a:solidFill>
                  <a:srgbClr val="22303C"/>
                </a:solidFill>
                <a:latin typeface="Calibri"/>
              </a:rPr>
              <a:t>контрольные соотношения документов — слайд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5AD"/>
                </a:solidFill>
                <a:latin typeface="Calibri"/>
              </a:rPr>
              <a:t>Oxtech · для ДИТ Москвы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5A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6283C"/>
                </a:solidFill>
                <a:latin typeface="Calibri"/>
              </a:rPr>
              <a:t>Конструктор: один код — много специальностей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F6B76"/>
                </a:solidFill>
                <a:latin typeface="Calibri"/>
              </a:rPr>
              <a:t>Проверено в production: агенты Oxtech — единый бинарник, различия только в конфигурации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749039" cy="3108960"/>
          </a:xfrm>
          <a:prstGeom prst="roundRect">
            <a:avLst>
              <a:gd name="adj" fmla="val 7000"/>
            </a:avLst>
          </a:prstGeom>
          <a:solidFill>
            <a:srgbClr val="16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Универсальное ядро агента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3108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0" i="0">
                <a:solidFill>
                  <a:srgbClr val="C9D6DF"/>
                </a:solidFill>
                <a:latin typeface="Calibri"/>
              </a:rPr>
              <a:t>A2A-сервер и карточка агента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0" i="0">
                <a:solidFill>
                  <a:srgbClr val="C9D6DF"/>
                </a:solidFill>
                <a:latin typeface="Calibri"/>
              </a:rPr>
              <a:t>MCP-клиент к данным города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0" i="0">
                <a:solidFill>
                  <a:srgbClr val="C9D6DF"/>
                </a:solidFill>
                <a:latin typeface="Calibri"/>
              </a:rPr>
              <a:t>аутентификация и лимиты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0" i="0">
                <a:solidFill>
                  <a:srgbClr val="C9D6DF"/>
                </a:solidFill>
                <a:latin typeface="Calibri"/>
              </a:rPr>
              <a:t>метрики, трассировка, health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34840" y="3108960"/>
            <a:ext cx="685800" cy="548640"/>
          </a:xfrm>
          <a:prstGeom prst="rightArrow">
            <a:avLst/>
          </a:prstGeom>
          <a:solidFill>
            <a:srgbClr val="1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57800" y="1828800"/>
            <a:ext cx="3063240" cy="3108960"/>
          </a:xfrm>
          <a:prstGeom prst="roundRect">
            <a:avLst>
              <a:gd name="adj" fmla="val 7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210312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6283C"/>
                </a:solidFill>
                <a:latin typeface="Calibri"/>
              </a:rPr>
              <a:t>Спецификация агента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2697480"/>
            <a:ext cx="25603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0" i="0">
                <a:solidFill>
                  <a:srgbClr val="22303C"/>
                </a:solidFill>
                <a:latin typeface="Calibri"/>
              </a:rPr>
              <a:t>роль (системный промпт)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0" i="0">
                <a:solidFill>
                  <a:srgbClr val="22303C"/>
                </a:solidFill>
                <a:latin typeface="Calibri"/>
              </a:rPr>
              <a:t>навыки и инструменты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0" i="0">
                <a:solidFill>
                  <a:srgbClr val="22303C"/>
                </a:solidFill>
                <a:latin typeface="Calibri"/>
              </a:rPr>
              <a:t>права: allowlist и комнаты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0" i="0">
                <a:solidFill>
                  <a:srgbClr val="22303C"/>
                </a:solidFill>
                <a:latin typeface="Calibri"/>
              </a:rPr>
              <a:t>модель под сценарий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828800"/>
            <a:ext cx="2926080" cy="512064"/>
          </a:xfrm>
          <a:prstGeom prst="roundRect">
            <a:avLst>
              <a:gd name="adj" fmla="val 30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929384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6283C"/>
                </a:solidFill>
                <a:latin typeface="Calibri"/>
              </a:rPr>
              <a:t>Бухгалтер-контролёр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2478024"/>
            <a:ext cx="2926080" cy="512064"/>
          </a:xfrm>
          <a:prstGeom prst="roundRect">
            <a:avLst>
              <a:gd name="adj" fmla="val 30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257860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6283C"/>
                </a:solidFill>
                <a:latin typeface="Calibri"/>
              </a:rPr>
              <a:t>Проверяющий комплекты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3127248"/>
            <a:ext cx="2926080" cy="512064"/>
          </a:xfrm>
          <a:prstGeom prst="roundRect">
            <a:avLst>
              <a:gd name="adj" fmla="val 30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322783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6283C"/>
                </a:solidFill>
                <a:latin typeface="Calibri"/>
              </a:rPr>
              <a:t>Аналитик отчётности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3776472"/>
            <a:ext cx="2926080" cy="512064"/>
          </a:xfrm>
          <a:prstGeom prst="roundRect">
            <a:avLst>
              <a:gd name="adj" fmla="val 30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3877056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6283C"/>
                </a:solidFill>
                <a:latin typeface="Calibri"/>
              </a:rPr>
              <a:t>Регистратор обращений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4425696"/>
            <a:ext cx="2926080" cy="512064"/>
          </a:xfrm>
          <a:prstGeom prst="roundRect">
            <a:avLst>
              <a:gd name="adj" fmla="val 30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452628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6283C"/>
                </a:solidFill>
                <a:latin typeface="Calibri"/>
              </a:rPr>
              <a:t>Аттестатор агентов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0749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F6B76"/>
                </a:solidFill>
                <a:latin typeface="Calibri"/>
              </a:rPr>
              <a:t>…специальности без разработки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83C"/>
                </a:solidFill>
                <a:latin typeface="Calibri"/>
              </a:rPr>
              <a:t>Сегодня на платформе Oxtech: </a:t>
            </a:r>
            <a:r>
              <a:rPr sz="1350" b="0" i="0">
                <a:solidFill>
                  <a:srgbClr val="5F6B76"/>
                </a:solidFill>
                <a:latin typeface="Calibri"/>
              </a:rPr>
              <a:t>более 10 агентов в production, 140+ MCP-инструментов доступа к данным, полный учёт токенов и трассировка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5AD"/>
                </a:solidFill>
                <a:latin typeface="Calibri"/>
              </a:rPr>
              <a:t>Oxtech · для ДИТ Москвы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5A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6283C"/>
                </a:solidFill>
                <a:latin typeface="Calibri"/>
              </a:rPr>
              <a:t>Комнаты — городские площади навыков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F6B76"/>
                </a:solidFill>
                <a:latin typeface="Calibri"/>
              </a:rPr>
              <a:t>Агент публикует услуги в карточке; комната определяет, кто и что может найти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319272" cy="2743200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 w="12700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83C"/>
                </a:solidFill>
                <a:latin typeface="Calibri"/>
              </a:rPr>
              <a:t>Комната «Финансы»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2862072" cy="4754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2862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2303C"/>
                </a:solidFill>
                <a:latin typeface="Calibri"/>
              </a:rPr>
              <a:t>Бухгалтер-контролёр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44368"/>
            <a:ext cx="2862072" cy="4754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035808"/>
            <a:ext cx="2862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2303C"/>
                </a:solidFill>
                <a:latin typeface="Calibri"/>
              </a:rPr>
              <a:t>Аналитик отчётности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3319272" cy="2743200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 w="12700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288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83C"/>
                </a:solidFill>
                <a:latin typeface="Calibri"/>
              </a:rPr>
              <a:t>Комната «Документы»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331720"/>
            <a:ext cx="2862072" cy="4754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423160"/>
            <a:ext cx="2862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2303C"/>
                </a:solidFill>
                <a:latin typeface="Calibri"/>
              </a:rPr>
              <a:t>Проверяющий комплекты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944368"/>
            <a:ext cx="2862072" cy="4754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035808"/>
            <a:ext cx="2862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2303C"/>
                </a:solidFill>
                <a:latin typeface="Calibri"/>
              </a:rPr>
              <a:t>Регистратор обращений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645920"/>
            <a:ext cx="3319272" cy="2743200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 w="12700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18288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283C"/>
                </a:solidFill>
                <a:latin typeface="Calibri"/>
              </a:rPr>
              <a:t>Комната «Кадры»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2331720"/>
            <a:ext cx="2862072" cy="4754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2423160"/>
            <a:ext cx="2862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2303C"/>
                </a:solidFill>
                <a:latin typeface="Calibri"/>
              </a:rPr>
              <a:t>Подбор и проверки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2944368"/>
            <a:ext cx="2862072" cy="4754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3035808"/>
            <a:ext cx="2862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22303C"/>
                </a:solidFill>
                <a:latin typeface="Calibri"/>
              </a:rPr>
              <a:t>Кадровый делопроизводитель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4617720"/>
            <a:ext cx="7799831" cy="566928"/>
          </a:xfrm>
          <a:prstGeom prst="roundRect">
            <a:avLst>
              <a:gd name="adj" fmla="val 30000"/>
            </a:avLst>
          </a:prstGeom>
          <a:solidFill>
            <a:srgbClr val="E9F6EE"/>
          </a:solidFill>
          <a:ln w="12700">
            <a:solidFill>
              <a:srgbClr val="1E9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4736592"/>
            <a:ext cx="77998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E9E50"/>
                </a:solidFill>
                <a:latin typeface="Calibri"/>
              </a:rPr>
              <a:t>Универсальные агенты </a:t>
            </a:r>
            <a:r>
              <a:rPr sz="1250" b="0" i="0">
                <a:solidFill>
                  <a:srgbClr val="22303C"/>
                </a:solidFill>
                <a:latin typeface="Calibri"/>
              </a:rPr>
              <a:t>(чтение документов, письмо, календарь) состоят сразу в нескольких комнатах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5376672"/>
            <a:ext cx="457200" cy="457200"/>
          </a:xfrm>
          <a:prstGeom prst="ellipse">
            <a:avLst/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earch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486400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43000" y="5449824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2303C"/>
                </a:solidFill>
                <a:latin typeface="Calibri"/>
              </a:rPr>
              <a:t>Discovery: агенты находят друг друга по карточкам возможностей (A2A Agent Card)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5897880"/>
            <a:ext cx="457200" cy="457200"/>
          </a:xfrm>
          <a:prstGeom prst="ellipse">
            <a:avLst/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hield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007608"/>
            <a:ext cx="237744" cy="2377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43000" y="5971032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2303C"/>
                </a:solidFill>
                <a:latin typeface="Calibri"/>
              </a:rPr>
              <a:t>Вход в комнату = права: видимость данных и агентов ограничена её границей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5AD"/>
                </a:solidFill>
                <a:latin typeface="Calibri"/>
              </a:rPr>
              <a:t>Oxtech · для ДИТ Москвы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5A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6283C"/>
                </a:solidFill>
                <a:latin typeface="Calibri"/>
              </a:rPr>
              <a:t>Открытые протоколы: A2A + MCP, каждый — по назначению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F6B76"/>
                </a:solidFill>
                <a:latin typeface="Calibri"/>
              </a:rPr>
              <a:t>Мировой консенсус: зрелые мультиагентные системы используют оба протокола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49240" cy="2834640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ayers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" y="2073859"/>
            <a:ext cx="332841" cy="3328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91640" y="201168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6283C"/>
                </a:solidFill>
                <a:latin typeface="Calibri"/>
              </a:rPr>
              <a:t>MCP — доступ к данным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4709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300" b="0" i="0">
                <a:solidFill>
                  <a:srgbClr val="22303C"/>
                </a:solidFill>
                <a:latin typeface="Calibri"/>
              </a:rPr>
              <a:t>«Вертикальный»: агент → инструменты и данные городских систем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300" b="0" i="0">
                <a:solidFill>
                  <a:srgbClr val="22303C"/>
                </a:solidFill>
                <a:latin typeface="Calibri"/>
              </a:rPr>
              <a:t>Вызов функций по схеме, единый слой над реальными ИС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349240" cy="2834640"/>
          </a:xfrm>
          <a:prstGeom prst="roundRect">
            <a:avLst>
              <a:gd name="adj" fmla="val 9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0" y="192024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etwor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299" y="2073859"/>
            <a:ext cx="332841" cy="33284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06640" y="201168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6283C"/>
                </a:solidFill>
                <a:latin typeface="Calibri"/>
              </a:rPr>
              <a:t>A2A — координация агентов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43200"/>
            <a:ext cx="4709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300" b="0" i="0">
                <a:solidFill>
                  <a:srgbClr val="22303C"/>
                </a:solidFill>
                <a:latin typeface="Calibri"/>
              </a:rPr>
              <a:t>«Горизонтальный»: агент ↔ агент, discovery по карточкам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300" b="0" i="0">
                <a:solidFill>
                  <a:srgbClr val="22303C"/>
                </a:solidFill>
                <a:latin typeface="Calibri"/>
              </a:rPr>
              <a:t>Задачи с жизненным циклом, встречные вопросы, длительная работа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64608"/>
            <a:ext cx="10607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6283C"/>
                </a:solidFill>
                <a:latin typeface="Calibri"/>
              </a:rPr>
              <a:t>Почему не «всё через MCP»: </a:t>
            </a:r>
            <a:r>
              <a:rPr sz="1300" b="0" i="0">
                <a:solidFill>
                  <a:srgbClr val="22303C"/>
                </a:solidFill>
                <a:latin typeface="Calibri"/>
              </a:rPr>
              <a:t>платформы, где агенты вызывают друг друга как функции, теряют жизненный цикл задач, встречные вопросы и discovery — </a:t>
            </a:r>
            <a:r>
              <a:rPr sz="1300" b="1" i="0">
                <a:solidFill>
                  <a:srgbClr val="1E9E50"/>
                </a:solidFill>
                <a:latin typeface="Calibri"/>
              </a:rPr>
              <a:t>координация и доступ к данным должны быть разными слоями. Каждый A2A-вызов виден в трассировке.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5AD"/>
                </a:solidFill>
                <a:latin typeface="Calibri"/>
              </a:rPr>
              <a:t>Oxtech · для ДИТ Москвы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5A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6283C"/>
                </a:solidFill>
                <a:latin typeface="Calibri"/>
              </a:rPr>
              <a:t>Фабрика: от заявки ведомства до аттестованного агента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F6B76"/>
                </a:solidFill>
                <a:latin typeface="Calibri"/>
              </a:rPr>
              <a:t>Каждый агент проходит конвейер и получает показатель зрелости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956816" cy="1691640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25295" y="1938528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ipboard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136" y="2083368"/>
            <a:ext cx="313822" cy="3138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2697480"/>
            <a:ext cx="1956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6283C"/>
                </a:solidFill>
                <a:latin typeface="Calibri"/>
              </a:rPr>
              <a:t>Заявка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956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F6B76"/>
                </a:solidFill>
                <a:latin typeface="Calibri"/>
              </a:rPr>
              <a:t>описание задачи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32888" y="2395728"/>
            <a:ext cx="274320" cy="320040"/>
          </a:xfrm>
          <a:prstGeom prst="rightArrow">
            <a:avLst/>
          </a:prstGeom>
          <a:solidFill>
            <a:srgbClr val="1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25496" y="1737360"/>
            <a:ext cx="1956816" cy="1691640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02152" y="1938528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ayers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992" y="2083368"/>
            <a:ext cx="313822" cy="31382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825496" y="2697480"/>
            <a:ext cx="1956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6283C"/>
                </a:solidFill>
                <a:latin typeface="Calibri"/>
              </a:rPr>
              <a:t>Сборка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5496" y="3035808"/>
            <a:ext cx="1956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F6B76"/>
                </a:solidFill>
                <a:latin typeface="Calibri"/>
              </a:rPr>
              <a:t>из конструктора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09744" y="2395728"/>
            <a:ext cx="274320" cy="320040"/>
          </a:xfrm>
          <a:prstGeom prst="rightArrow">
            <a:avLst/>
          </a:prstGeom>
          <a:solidFill>
            <a:srgbClr val="1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02352" y="1737360"/>
            <a:ext cx="1956816" cy="1691640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1938528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pu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3848" y="2083368"/>
            <a:ext cx="313822" cy="31382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02352" y="2697480"/>
            <a:ext cx="1956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6283C"/>
                </a:solidFill>
                <a:latin typeface="Calibri"/>
              </a:rPr>
              <a:t>Песочница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3035808"/>
            <a:ext cx="1956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F6B76"/>
                </a:solidFill>
                <a:latin typeface="Calibri"/>
              </a:rPr>
              <a:t>эталонные задания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86600" y="2395728"/>
            <a:ext cx="274320" cy="320040"/>
          </a:xfrm>
          <a:prstGeom prst="rightArrow">
            <a:avLst/>
          </a:prstGeom>
          <a:solidFill>
            <a:srgbClr val="1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79208" y="1737360"/>
            <a:ext cx="1956816" cy="1691640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55864" y="1938528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hield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704" y="2083368"/>
            <a:ext cx="313822" cy="31382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379208" y="2697480"/>
            <a:ext cx="1956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6283C"/>
                </a:solidFill>
                <a:latin typeface="Calibri"/>
              </a:rPr>
              <a:t>Аттестация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9208" y="3035808"/>
            <a:ext cx="1956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F6B76"/>
                </a:solidFill>
                <a:latin typeface="Calibri"/>
              </a:rPr>
              <a:t>оценка + допуск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363456" y="2395728"/>
            <a:ext cx="274320" cy="320040"/>
          </a:xfrm>
          <a:prstGeom prst="rightArrow">
            <a:avLst/>
          </a:prstGeom>
          <a:solidFill>
            <a:srgbClr val="1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56064" y="1737360"/>
            <a:ext cx="1956816" cy="1691640"/>
          </a:xfrm>
          <a:prstGeom prst="roundRect">
            <a:avLst>
              <a:gd name="adj" fmla="val 9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32720" y="1938528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network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560" y="2083368"/>
            <a:ext cx="313822" cy="31382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656064" y="2697480"/>
            <a:ext cx="1956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6283C"/>
                </a:solidFill>
                <a:latin typeface="Calibri"/>
              </a:rPr>
              <a:t>Выпуск в комнату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6064" y="3035808"/>
            <a:ext cx="1956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F6B76"/>
                </a:solidFill>
                <a:latin typeface="Calibri"/>
              </a:rPr>
              <a:t>discovery включён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886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83C"/>
                </a:solidFill>
                <a:latin typeface="Calibri"/>
              </a:rPr>
              <a:t>Шкала зрелости агента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343400"/>
            <a:ext cx="2057400" cy="566928"/>
          </a:xfrm>
          <a:prstGeom prst="roundRect">
            <a:avLst>
              <a:gd name="adj" fmla="val 30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48056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5F6B76"/>
                </a:solidFill>
                <a:latin typeface="Calibri"/>
              </a:rPr>
              <a:t>Прототип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07208" y="4343400"/>
            <a:ext cx="2057400" cy="566928"/>
          </a:xfrm>
          <a:prstGeom prst="roundRect">
            <a:avLst>
              <a:gd name="adj" fmla="val 30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07208" y="448056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5F6B76"/>
                </a:solidFill>
                <a:latin typeface="Calibri"/>
              </a:rPr>
              <a:t>Песочница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65776" y="4343400"/>
            <a:ext cx="2057400" cy="566928"/>
          </a:xfrm>
          <a:prstGeom prst="roundRect">
            <a:avLst>
              <a:gd name="adj" fmla="val 30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65776" y="448056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E9E50"/>
                </a:solidFill>
                <a:latin typeface="Calibri"/>
              </a:rPr>
              <a:t>Аттестован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24344" y="4343400"/>
            <a:ext cx="2057400" cy="566928"/>
          </a:xfrm>
          <a:prstGeom prst="roundRect">
            <a:avLst>
              <a:gd name="adj" fmla="val 30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24344" y="448056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E9E50"/>
                </a:solidFill>
                <a:latin typeface="Calibri"/>
              </a:rPr>
              <a:t>Production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82912" y="4343400"/>
            <a:ext cx="2057400" cy="566928"/>
          </a:xfrm>
          <a:prstGeom prst="roundRect">
            <a:avLst>
              <a:gd name="adj" fmla="val 30000"/>
            </a:avLst>
          </a:prstGeom>
          <a:solidFill>
            <a:srgbClr val="1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82912" y="448056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Ветеран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77240" y="5376672"/>
            <a:ext cx="566928" cy="566928"/>
          </a:xfrm>
          <a:prstGeom prst="ellipse">
            <a:avLst/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ward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302" y="5512734"/>
            <a:ext cx="294802" cy="29480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54480" y="534924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16283C"/>
                </a:solidFill>
                <a:latin typeface="Calibri"/>
              </a:rPr>
              <a:t>Агент-аттестатор: </a:t>
            </a:r>
            <a:r>
              <a:rPr sz="1300" b="0" i="0">
                <a:solidFill>
                  <a:srgbClr val="22303C"/>
                </a:solidFill>
                <a:latin typeface="Calibri"/>
              </a:rPr>
              <a:t>оценку зрелости проводит специальный агент на самой сильной доступной модели — по эталонным заданиям и протоколу проверки. Финальный допуск подтверждает человек.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5105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5AD"/>
                </a:solidFill>
                <a:latin typeface="Calibri"/>
              </a:rPr>
              <a:t>Oxtech · для ДИТ Москвы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5A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6283C"/>
                </a:solidFill>
                <a:latin typeface="Calibri"/>
              </a:rPr>
              <a:t>Модели: осознанный выбор под каждый сценарий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F6B76"/>
                </a:solidFill>
                <a:latin typeface="Calibri"/>
              </a:rPr>
              <a:t>Единый OpenAI-совместимый шлюз; выбор модели фиксируется в конфигурации агента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7863840" cy="969264"/>
          </a:xfrm>
          <a:prstGeom prst="roundRect">
            <a:avLst>
              <a:gd name="adj" fmla="val 9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19656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83C"/>
                </a:solidFill>
                <a:latin typeface="Calibri"/>
              </a:rPr>
              <a:t>Дообученные модели города (LoRA)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6712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F6B76"/>
                </a:solidFill>
                <a:latin typeface="Calibri"/>
              </a:rPr>
              <a:t>основной контур: агенты на моделях, которые ДИТ уже обучает под городские задачи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7863840" cy="969264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16936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83C"/>
                </a:solidFill>
                <a:latin typeface="Calibri"/>
              </a:rPr>
              <a:t>Российские коммерческие (GigaChat, YandexGPT)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6440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F6B76"/>
                </a:solidFill>
                <a:latin typeface="Calibri"/>
              </a:rPr>
              <a:t>по задаче — через тот же шлюз, без привязки агентов к вендору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86200"/>
            <a:ext cx="7863840" cy="969264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14215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83C"/>
                </a:solidFill>
                <a:latin typeface="Calibri"/>
              </a:rPr>
              <a:t>Локальные open-source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6168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F6B76"/>
                </a:solidFill>
                <a:latin typeface="Calibri"/>
              </a:rPr>
              <a:t>закрытые контуры и чувствительные данные — модели в периметре города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83480"/>
            <a:ext cx="7863840" cy="969264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111496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83C"/>
                </a:solidFill>
                <a:latin typeface="Calibri"/>
              </a:rPr>
              <a:t>Передовые зарубежные (точечно)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5896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F6B76"/>
                </a:solidFill>
                <a:latin typeface="Calibri"/>
              </a:rPr>
              <a:t>только разрешённые сценарии без ПДн — например, аттестация зрелости агентов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691640"/>
            <a:ext cx="2971800" cy="4023360"/>
          </a:xfrm>
          <a:prstGeom prst="roundRect">
            <a:avLst>
              <a:gd name="adj" fmla="val 7000"/>
            </a:avLst>
          </a:prstGeom>
          <a:solidFill>
            <a:srgbClr val="16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0" y="1965960"/>
            <a:ext cx="640080" cy="640080"/>
          </a:xfrm>
          <a:prstGeom prst="ellipse">
            <a:avLst/>
          </a:prstGeom>
          <a:solidFill>
            <a:srgbClr val="20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pu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739" y="2119579"/>
            <a:ext cx="332841" cy="33284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61120" y="278892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Единый шлюз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291840"/>
            <a:ext cx="2377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50" b="0" i="0">
                <a:solidFill>
                  <a:srgbClr val="C9D6DF"/>
                </a:solidFill>
                <a:latin typeface="Calibri"/>
              </a:rPr>
              <a:t>агенты не привязаны к провайдеру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50" b="0" i="0">
                <a:solidFill>
                  <a:srgbClr val="C9D6DF"/>
                </a:solidFill>
                <a:latin typeface="Calibri"/>
              </a:rPr>
              <a:t>учёт токенов по каждому контуру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50" b="0" i="0">
                <a:solidFill>
                  <a:srgbClr val="C9D6DF"/>
                </a:solidFill>
                <a:latin typeface="Calibri"/>
              </a:rPr>
              <a:t>лимиты и аудит обращений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150" b="0" i="0">
                <a:solidFill>
                  <a:srgbClr val="C9D6DF"/>
                </a:solidFill>
                <a:latin typeface="Calibri"/>
              </a:rPr>
              <a:t>смена модели без переписывания агента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5AD"/>
                </a:solidFill>
                <a:latin typeface="Calibri"/>
              </a:rPr>
              <a:t>Oxtech · для ДИТ Москвы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5A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6283C"/>
                </a:solidFill>
                <a:latin typeface="Calibri"/>
              </a:rPr>
              <a:t>Собственная платформа города vs аренда GigaCowork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F6B76"/>
                </a:solidFill>
                <a:latin typeface="Calibri"/>
              </a:rPr>
              <a:t>По открытым данным о GigaCowork (запуск 19.05.2026, тестовый доступ)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480560"/>
              </a:tblGrid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6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Аренда: GigaCowork</a:t>
                      </a:r>
                    </a:p>
                  </a:txBody>
                  <a:tcPr>
                    <a:solidFill>
                      <a:srgbClr val="1628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Владение: фабрика агентов</a:t>
                      </a:r>
                    </a:p>
                  </a:txBody>
                  <a:tcPr>
                    <a:solidFill>
                      <a:srgbClr val="1E9E5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6283C"/>
                          </a:solidFill>
                          <a:latin typeface="Calibri"/>
                        </a:rPr>
                        <a:t>Владение кодом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закрытая платформа Сбера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открытое ядро на Mos.Hub — код у города</a:t>
                      </a:r>
                    </a:p>
                  </a:txBody>
                  <a:tcPr>
                    <a:solidFill>
                      <a:srgbClr val="E9F6E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6283C"/>
                          </a:solidFill>
                          <a:latin typeface="Calibri"/>
                        </a:rPr>
                        <a:t>Данные и контур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облако вендора (on-premise не заявлен)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полностью в периметре города</a:t>
                      </a:r>
                    </a:p>
                  </a:txBody>
                  <a:tcPr>
                    <a:solidFill>
                      <a:srgbClr val="E9F6E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6283C"/>
                          </a:solidFill>
                          <a:latin typeface="Calibri"/>
                        </a:rPr>
                        <a:t>Модели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экосистема GigaChat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модели города + любые через шлюз, выбор на сценарий</a:t>
                      </a:r>
                    </a:p>
                  </a:txBody>
                  <a:tcPr>
                    <a:solidFill>
                      <a:srgbClr val="E9F6E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6283C"/>
                          </a:solidFill>
                          <a:latin typeface="Calibri"/>
                        </a:rPr>
                        <a:t>Создание агентов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self-service: сотрудник описывает регламент в чате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фабрика: сборка, песочница, аттестация, зрелость</a:t>
                      </a:r>
                    </a:p>
                  </a:txBody>
                  <a:tcPr>
                    <a:solidFill>
                      <a:srgbClr val="E9F6E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6283C"/>
                          </a:solidFill>
                          <a:latin typeface="Calibri"/>
                        </a:rPr>
                        <a:t>Межагентное взаимодействие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MCP-интеграции; протокол агент–агент не заявлен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A2A + discovery по комнатам, трассировка вызовов</a:t>
                      </a:r>
                    </a:p>
                  </a:txBody>
                  <a:tcPr>
                    <a:solidFill>
                      <a:srgbClr val="E9F6E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6283C"/>
                          </a:solidFill>
                          <a:latin typeface="Calibri"/>
                        </a:rPr>
                        <a:t>Расширение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roadmap вендора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правила расширения + витрина + университеты</a:t>
                      </a:r>
                    </a:p>
                  </a:txBody>
                  <a:tcPr>
                    <a:solidFill>
                      <a:srgbClr val="E9F6E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5105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5AD"/>
                </a:solidFill>
                <a:latin typeface="Calibri"/>
              </a:rPr>
              <a:t>Oxtech · для ДИТ Москвы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5A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6283C"/>
                </a:solidFill>
                <a:latin typeface="Calibri"/>
              </a:rPr>
              <a:t>Экосистема: витрина навыков и университеты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F6B76"/>
                </a:solidFill>
                <a:latin typeface="Calibri"/>
              </a:rPr>
              <a:t>Спрос ведомств встречается с предложением команд — через понятный рынок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956816" cy="2011680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25295" y="2011680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andmark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136" y="2156520"/>
            <a:ext cx="313822" cy="3138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2788920"/>
            <a:ext cx="1956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6283C"/>
                </a:solidFill>
                <a:latin typeface="Calibri"/>
              </a:rPr>
              <a:t>Ведомство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27248"/>
            <a:ext cx="19568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F6B76"/>
                </a:solidFill>
                <a:latin typeface="Calibri"/>
              </a:rPr>
              <a:t>публикует потребность в навыке или агенте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32888" y="2487168"/>
            <a:ext cx="274320" cy="320040"/>
          </a:xfrm>
          <a:prstGeom prst="rightArrow">
            <a:avLst/>
          </a:prstGeom>
          <a:solidFill>
            <a:srgbClr val="1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25496" y="1783080"/>
            <a:ext cx="1956816" cy="2011680"/>
          </a:xfrm>
          <a:prstGeom prst="roundRect">
            <a:avLst>
              <a:gd name="adj" fmla="val 9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02152" y="2011680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ore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992" y="2156520"/>
            <a:ext cx="313822" cy="31382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825496" y="2788920"/>
            <a:ext cx="1956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6283C"/>
                </a:solidFill>
                <a:latin typeface="Calibri"/>
              </a:rPr>
              <a:t>Витрина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5496" y="3127248"/>
            <a:ext cx="19568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F6B76"/>
                </a:solidFill>
                <a:latin typeface="Calibri"/>
              </a:rPr>
              <a:t>каталог инструментов и навыков со статусом зрелости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09744" y="2487168"/>
            <a:ext cx="274320" cy="320040"/>
          </a:xfrm>
          <a:prstGeom prst="rightArrow">
            <a:avLst/>
          </a:prstGeom>
          <a:solidFill>
            <a:srgbClr val="1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02352" y="1783080"/>
            <a:ext cx="1956816" cy="2011680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011680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users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3848" y="2156520"/>
            <a:ext cx="313822" cy="31382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02352" y="2788920"/>
            <a:ext cx="1956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6283C"/>
                </a:solidFill>
                <a:latin typeface="Calibri"/>
              </a:rPr>
              <a:t>Университеты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3127248"/>
            <a:ext cx="19568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F6B76"/>
                </a:solidFill>
                <a:latin typeface="Calibri"/>
              </a:rPr>
              <a:t>команды берут оплачиваемые заказы на разработку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86600" y="2487168"/>
            <a:ext cx="274320" cy="320040"/>
          </a:xfrm>
          <a:prstGeom prst="rightArrow">
            <a:avLst/>
          </a:prstGeom>
          <a:solidFill>
            <a:srgbClr val="1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79208" y="1783080"/>
            <a:ext cx="1956816" cy="2011680"/>
          </a:xfrm>
          <a:prstGeom prst="roundRect">
            <a:avLst>
              <a:gd name="adj" fmla="val 9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55864" y="2011680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hield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704" y="2156520"/>
            <a:ext cx="313822" cy="31382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379208" y="2788920"/>
            <a:ext cx="1956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6283C"/>
                </a:solidFill>
                <a:latin typeface="Calibri"/>
              </a:rPr>
              <a:t>Фабрика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9208" y="3127248"/>
            <a:ext cx="19568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F6B76"/>
                </a:solidFill>
                <a:latin typeface="Calibri"/>
              </a:rPr>
              <a:t>аттестация чужих навыков по общим правилам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363456" y="2487168"/>
            <a:ext cx="274320" cy="320040"/>
          </a:xfrm>
          <a:prstGeom prst="rightArrow">
            <a:avLst/>
          </a:prstGeom>
          <a:solidFill>
            <a:srgbClr val="1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56064" y="1783080"/>
            <a:ext cx="1956816" cy="2011680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32720" y="2011680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network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560" y="2156520"/>
            <a:ext cx="313822" cy="31382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656064" y="2788920"/>
            <a:ext cx="1956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6283C"/>
                </a:solidFill>
                <a:latin typeface="Calibri"/>
              </a:rPr>
              <a:t>Комнаты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6064" y="3127248"/>
            <a:ext cx="19568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F6B76"/>
                </a:solidFill>
                <a:latin typeface="Calibri"/>
              </a:rPr>
              <a:t>навык доступен агентам города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tore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" y="4326940"/>
            <a:ext cx="261518" cy="26151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34440" y="4297679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303C"/>
                </a:solidFill>
                <a:latin typeface="Calibri"/>
              </a:rPr>
              <a:t>Оплачиваемые заказы, а не разовые хакатоны: устойчивая экономика для университетских команд</a:t>
            </a:r>
          </a:p>
        </p:txBody>
      </p:sp>
      <p:sp>
        <p:nvSpPr>
          <p:cNvPr id="37" name="Oval 36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gauge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40" y="5012740"/>
            <a:ext cx="261518" cy="26151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234440" y="4983479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303C"/>
                </a:solidFill>
                <a:latin typeface="Calibri"/>
              </a:rPr>
              <a:t>Каждый навык и агент несёт показатель зрелости — заказчик видит, чему можно доверять</a:t>
            </a:r>
          </a:p>
        </p:txBody>
      </p:sp>
      <p:sp>
        <p:nvSpPr>
          <p:cNvPr id="40" name="Oval 39"/>
          <p:cNvSpPr/>
          <p:nvPr/>
        </p:nvSpPr>
        <p:spPr>
          <a:xfrm>
            <a:off x="548640" y="5577840"/>
            <a:ext cx="502920" cy="502920"/>
          </a:xfrm>
          <a:prstGeom prst="ellipse">
            <a:avLst/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landmark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" y="5698540"/>
            <a:ext cx="261518" cy="26151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234440" y="5669279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2303C"/>
                </a:solidFill>
                <a:latin typeface="Calibri"/>
              </a:rPr>
              <a:t>Синергия с городской экосистемой: ЛЦТ, Академия инноваторов, программы МИК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5105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5AD"/>
                </a:solidFill>
                <a:latin typeface="Calibri"/>
              </a:rPr>
              <a:t>Oxtech · для ДИТ Москвы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5A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6283C"/>
                </a:solidFill>
                <a:latin typeface="Calibri"/>
              </a:rPr>
              <a:t>Пилот: контрольные соотношения документов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F6B76"/>
                </a:solidFill>
                <a:latin typeface="Calibri"/>
              </a:rPr>
              <a:t>6–8 недель · в контуре города · метрики до и после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566160" cy="1965960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938528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occheck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190" y="2087758"/>
            <a:ext cx="323331" cy="3233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0200" y="2011680"/>
            <a:ext cx="2377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6283C"/>
                </a:solidFill>
                <a:latin typeface="Calibri"/>
              </a:rPr>
              <a:t>Чтение пакета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78892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F6B76"/>
                </a:solidFill>
                <a:latin typeface="Calibri"/>
              </a:rPr>
              <a:t>агент-чтец извлекает значения из документов и форм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42232" y="2487168"/>
            <a:ext cx="256032" cy="320040"/>
          </a:xfrm>
          <a:prstGeom prst="rightArrow">
            <a:avLst/>
          </a:prstGeom>
          <a:solidFill>
            <a:srgbClr val="1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5112" y="1691640"/>
            <a:ext cx="3566160" cy="1965960"/>
          </a:xfrm>
          <a:prstGeom prst="roundRect">
            <a:avLst>
              <a:gd name="adj" fmla="val 9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99431" y="1938528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earch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662" y="2087758"/>
            <a:ext cx="323331" cy="3233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76671" y="2011680"/>
            <a:ext cx="2377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6283C"/>
                </a:solidFill>
                <a:latin typeface="Calibri"/>
              </a:rPr>
              <a:t>Сверка соотношений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78892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F6B76"/>
                </a:solidFill>
                <a:latin typeface="Calibri"/>
              </a:rPr>
              <a:t>агент-контролёр проверяет соотношения по правилам ведомства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18704" y="2487168"/>
            <a:ext cx="256032" cy="320040"/>
          </a:xfrm>
          <a:prstGeom prst="rightArrow">
            <a:avLst/>
          </a:prstGeom>
          <a:solidFill>
            <a:srgbClr val="1E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1583" y="1691640"/>
            <a:ext cx="3566160" cy="1965960"/>
          </a:xfrm>
          <a:prstGeom prst="roundRect">
            <a:avLst>
              <a:gd name="adj" fmla="val 9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75904" y="1938528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lipboard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5134" y="2087758"/>
            <a:ext cx="323331" cy="32333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53144" y="2011680"/>
            <a:ext cx="2377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6283C"/>
                </a:solidFill>
                <a:latin typeface="Calibri"/>
              </a:rPr>
              <a:t>Протокол расхождений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2788920"/>
            <a:ext cx="3017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F6B76"/>
                </a:solidFill>
                <a:latin typeface="Calibri"/>
              </a:rPr>
              <a:t>агент-писарь формирует протокол; человек подтверждает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77639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83C"/>
                </a:solidFill>
                <a:latin typeface="Calibri"/>
              </a:rPr>
              <a:t>Что измеряем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356616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459028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9E50"/>
                </a:solidFill>
                <a:latin typeface="Calibri"/>
              </a:rPr>
              <a:t>Время проверки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95604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F6B76"/>
                </a:solidFill>
                <a:latin typeface="Calibri"/>
              </a:rPr>
              <a:t>одного пакета документов: до и после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5112" y="4434840"/>
            <a:ext cx="356616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1" y="459028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9E50"/>
                </a:solidFill>
                <a:latin typeface="Calibri"/>
              </a:rPr>
              <a:t>Доля расхождений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1" y="495604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F6B76"/>
                </a:solidFill>
                <a:latin typeface="Calibri"/>
              </a:rPr>
              <a:t>найденных агентами и подтверждённых людьми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3" y="4434840"/>
            <a:ext cx="356616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75904" y="459028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9E50"/>
                </a:solidFill>
                <a:latin typeface="Calibri"/>
              </a:rPr>
              <a:t>Нагрузка на сотрудника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495604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F6B76"/>
                </a:solidFill>
                <a:latin typeface="Calibri"/>
              </a:rPr>
              <a:t>высвобожденные часы на рутинной сверке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715000"/>
            <a:ext cx="11064240" cy="566928"/>
          </a:xfrm>
          <a:prstGeom prst="roundRect">
            <a:avLst>
              <a:gd name="adj" fmla="val 20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83387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6283C"/>
                </a:solidFill>
                <a:latin typeface="Calibri"/>
              </a:rPr>
              <a:t>Каждое действие агентов — в трассировке; </a:t>
            </a:r>
            <a:r>
              <a:rPr sz="1250" b="0" i="0">
                <a:solidFill>
                  <a:srgbClr val="22303C"/>
                </a:solidFill>
                <a:latin typeface="Calibri"/>
              </a:rPr>
              <a:t>значимые решения подтверждает человек (human-in-the-loop)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105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5AD"/>
                </a:solidFill>
                <a:latin typeface="Calibri"/>
              </a:rPr>
              <a:t>Oxtech · для ДИТ Москвы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5A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6283C"/>
                </a:solidFill>
                <a:latin typeface="Calibri"/>
              </a:rPr>
              <a:t>Дорожная карта и роли сторон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F6B76"/>
                </a:solidFill>
                <a:latin typeface="Calibri"/>
              </a:rPr>
              <a:t>От пилота к городской фабрике за три этапа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66160" cy="2651760"/>
          </a:xfrm>
          <a:prstGeom prst="roundRect">
            <a:avLst>
              <a:gd name="adj" fmla="val 7000"/>
            </a:avLst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83C"/>
                </a:solidFill>
                <a:latin typeface="Calibri"/>
              </a:rPr>
              <a:t>Этап 1 · Пилот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31136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9E50"/>
                </a:solidFill>
                <a:latin typeface="Calibri"/>
              </a:rPr>
              <a:t>6–8 недель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51760"/>
            <a:ext cx="3017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Calibri"/>
              </a:rPr>
              <a:t>контрольные соотношения в одном ведомстве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Calibri"/>
              </a:rPr>
              <a:t>подключение моделей города к шлюзу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Calibri"/>
              </a:rPr>
              <a:t>метрики до и после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645920"/>
            <a:ext cx="3566160" cy="2651760"/>
          </a:xfrm>
          <a:prstGeom prst="roundRect">
            <a:avLst>
              <a:gd name="adj" fmla="val 7000"/>
            </a:avLst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84708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83C"/>
                </a:solidFill>
                <a:latin typeface="Calibri"/>
              </a:rPr>
              <a:t>Этап 2 · Ядро и комнаты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2231136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9E50"/>
                </a:solidFill>
                <a:latin typeface="Calibri"/>
              </a:rPr>
              <a:t>3–4 месяца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651760"/>
            <a:ext cx="3017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Calibri"/>
              </a:rPr>
              <a:t>публикация ядра на Mos.Hub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Calibri"/>
              </a:rPr>
              <a:t>комнаты, discovery, правила расширения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Calibri"/>
              </a:rPr>
              <a:t>фабрика: песочница и аттестация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645920"/>
            <a:ext cx="3566160" cy="2651760"/>
          </a:xfrm>
          <a:prstGeom prst="roundRect">
            <a:avLst>
              <a:gd name="adj" fmla="val 7000"/>
            </a:avLst>
          </a:prstGeom>
          <a:solidFill>
            <a:srgbClr val="16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184708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Этап 3 · Экосистема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231136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6FC592"/>
                </a:solidFill>
                <a:latin typeface="Calibri"/>
              </a:rPr>
              <a:t>далее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651760"/>
            <a:ext cx="3017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C9D6DF"/>
                </a:solidFill>
                <a:latin typeface="Calibri"/>
              </a:rPr>
              <a:t>витрина инструментов и навыков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C9D6DF"/>
                </a:solidFill>
                <a:latin typeface="Calibri"/>
              </a:rPr>
              <a:t>университеты: оплачиваемые заказы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C9D6DF"/>
                </a:solidFill>
                <a:latin typeface="Calibri"/>
              </a:rPr>
              <a:t>тираж на ведомства города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572000"/>
            <a:ext cx="502920" cy="502920"/>
          </a:xfrm>
          <a:prstGeom prst="ellipse">
            <a:avLst/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andmark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" y="4692700"/>
            <a:ext cx="261518" cy="26151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34440" y="4590288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283C"/>
                </a:solidFill>
                <a:latin typeface="Calibri"/>
              </a:rPr>
              <a:t>ДИТ Москвы: </a:t>
            </a:r>
            <a:r>
              <a:rPr sz="1300" b="0" i="0">
                <a:solidFill>
                  <a:srgbClr val="22303C"/>
                </a:solidFill>
                <a:latin typeface="Calibri"/>
              </a:rPr>
              <a:t>владелец инсталляции, данных и процесса аттестации; оператор платформы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5193792"/>
            <a:ext cx="502920" cy="502920"/>
          </a:xfrm>
          <a:prstGeom prst="ellipse">
            <a:avLst/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actory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" y="5314492"/>
            <a:ext cx="261518" cy="26151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34440" y="5212079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283C"/>
                </a:solidFill>
                <a:latin typeface="Calibri"/>
              </a:rPr>
              <a:t>Oxtech: </a:t>
            </a:r>
            <a:r>
              <a:rPr sz="1300" b="0" i="0">
                <a:solidFill>
                  <a:srgbClr val="22303C"/>
                </a:solidFill>
                <a:latin typeface="Calibri"/>
              </a:rPr>
              <a:t>архитектор и maintainer ядра, обучение команд, ревью расширений, SLA-поддержка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815583"/>
            <a:ext cx="502920" cy="502920"/>
          </a:xfrm>
          <a:prstGeom prst="ellipse">
            <a:avLst/>
          </a:prstGeom>
          <a:solidFill>
            <a:srgbClr val="E9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users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" y="5936284"/>
            <a:ext cx="261518" cy="26151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34440" y="5833871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283C"/>
                </a:solidFill>
                <a:latin typeface="Calibri"/>
              </a:rPr>
              <a:t>Университеты: </a:t>
            </a:r>
            <a:r>
              <a:rPr sz="1300" b="0" i="0">
                <a:solidFill>
                  <a:srgbClr val="22303C"/>
                </a:solidFill>
                <a:latin typeface="Calibri"/>
              </a:rPr>
              <a:t>поставщики навыков и ролей через витрину — оплачиваемые заказы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5AD"/>
                </a:solidFill>
                <a:latin typeface="Calibri"/>
              </a:rPr>
              <a:t>Oxtech · для ДИТ Москвы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5A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oxtech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Почему Oxtech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5120640" cy="1508760"/>
          </a:xfrm>
          <a:prstGeom prst="roundRect">
            <a:avLst>
              <a:gd name="adj" fmla="val 9000"/>
            </a:avLst>
          </a:prstGeom>
          <a:solidFill>
            <a:srgbClr val="20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267712"/>
            <a:ext cx="566928" cy="566928"/>
          </a:xfrm>
          <a:prstGeom prst="ellipse">
            <a:avLst/>
          </a:prstGeom>
          <a:solidFill>
            <a:srgbClr val="2A4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actory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2" y="2403774"/>
            <a:ext cx="294802" cy="2948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219456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Платформа в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578608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C9D6DF"/>
                </a:solidFill>
                <a:latin typeface="Calibri"/>
              </a:rPr>
              <a:t>команда агентов, 140+ MCP-инструментов, трассировка и учёт токенов — работает сегодня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11680"/>
            <a:ext cx="5120640" cy="1508760"/>
          </a:xfrm>
          <a:prstGeom prst="roundRect">
            <a:avLst>
              <a:gd name="adj" fmla="val 9000"/>
            </a:avLst>
          </a:prstGeom>
          <a:solidFill>
            <a:srgbClr val="20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2267712"/>
            <a:ext cx="566928" cy="566928"/>
          </a:xfrm>
          <a:prstGeom prst="ellipse">
            <a:avLst/>
          </a:prstGeom>
          <a:solidFill>
            <a:srgbClr val="2A4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862" y="2403774"/>
            <a:ext cx="294802" cy="2948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78040" y="219456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Права оформлены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578608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C9D6DF"/>
                </a:solidFill>
                <a:latin typeface="Calibri"/>
              </a:rPr>
              <a:t>свидетельство о госрегистрации ПО «Oxtech Agents» № 2026613582, правообладатель — ООО «ОКСТЕХ»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703320"/>
            <a:ext cx="5120640" cy="1508760"/>
          </a:xfrm>
          <a:prstGeom prst="roundRect">
            <a:avLst>
              <a:gd name="adj" fmla="val 9000"/>
            </a:avLst>
          </a:prstGeom>
          <a:solidFill>
            <a:srgbClr val="20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1560" y="3959352"/>
            <a:ext cx="566928" cy="566928"/>
          </a:xfrm>
          <a:prstGeom prst="ellipse">
            <a:avLst/>
          </a:prstGeom>
          <a:solidFill>
            <a:srgbClr val="2A4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andmar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2" y="4095414"/>
            <a:ext cx="294802" cy="29480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828800" y="388620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Участник МИК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270248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C9D6DF"/>
                </a:solidFill>
                <a:latin typeface="Calibri"/>
              </a:rPr>
              <a:t>резидент Московского инновационного кластера, профиль на i.moscow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703320"/>
            <a:ext cx="5120640" cy="1508760"/>
          </a:xfrm>
          <a:prstGeom prst="roundRect">
            <a:avLst>
              <a:gd name="adj" fmla="val 9000"/>
            </a:avLst>
          </a:prstGeom>
          <a:solidFill>
            <a:srgbClr val="20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3959352"/>
            <a:ext cx="566928" cy="566928"/>
          </a:xfrm>
          <a:prstGeom prst="ellipse">
            <a:avLst/>
          </a:prstGeom>
          <a:solidFill>
            <a:srgbClr val="2A4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networ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6862" y="4095414"/>
            <a:ext cx="294802" cy="29480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178040" y="388620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Открытый код в ДНК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270248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C9D6DF"/>
                </a:solidFill>
                <a:latin typeface="Calibri"/>
              </a:rPr>
              <a:t>открытая библиотека ox-ai-workers (MIT) — публикуем и сопровождаем open source с 2024 года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9E50"/>
                </a:solidFill>
                <a:latin typeface="Calibri"/>
              </a:rPr>
              <a:t>Следующий шаг: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демонстрация живой системы и выбор ведомства для пилота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9E50"/>
                </a:solidFill>
                <a:latin typeface="Calibri"/>
              </a:rPr>
              <a:t>oxteam.me</a:t>
            </a:r>
            <a:r>
              <a:rPr sz="1300" b="0" i="0">
                <a:solidFill>
                  <a:srgbClr val="C9D6DF"/>
                </a:solidFill>
                <a:latin typeface="Calibri"/>
              </a:rPr>
              <a:t>    ·    smolev@me.com    ·    Денис Смолев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