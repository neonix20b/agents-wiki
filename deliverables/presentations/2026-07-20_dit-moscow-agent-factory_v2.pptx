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Титул: сразу фиксируем рамку — не аренда, а владение. Все тезисы раскрыты внутри.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Не называем Сбер на этом слайде; боль вендор-лока описана нейтрально. Прямое сравнение — слайд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Тезис о формализации неформализованного. Пилот заявлен уже здесь и раскрыт на слайде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составляющие предложения; каждая карточка самодостаточна.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Формат «до/после» как в эталоне: слева аренда, справа владение, стрелка — переход.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Цифры защитимы: 11 отвечающих агентов + конвертер; 67+75+5 MCP-инструментов.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Метафора городских площадей. Технически: Agent Cards + реестр + права.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Архитектурный аргумент против MCP-центричных платформ. Межагентный протокол GigaCowork публично не заявлен.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«Роддом агентов». Аттестатор на передовой модели — разрешённый сценарий без ПДн.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Честно: подключение моделей города — работа этапа пилота; архитектурно шлюз готов.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Только публичные факты о GigaCowork; ничего об их внутренностях не утверждаем.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 на «нужно всё больше тулов и агентов»: рынок вместо вендора, качество через аттестацию.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Конкретные проценты не обещаем — метрики фиксируются на данных ведомства до и после.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Роли трёх сторон; сроки этапов — оценка, уточняется по итогам пилота.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Закрытие: действующая система, права юрлица, статус МИК, open-source практика. Призыв к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9CC5B9"/>
                </a:solidFill>
                <a:latin typeface="Arial"/>
              </a:rPr>
              <a:t>ПРЕДЛОЖЕНИЕ ДЛЯ ДИТ МОСКВЫ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9875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Arial"/>
              </a:rPr>
              <a:t>Городская фабрика</a:t>
            </a:r>
          </a:p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FFFFFF"/>
                </a:solidFill>
                <a:latin typeface="Arial"/>
              </a:rPr>
              <a:t>ИИ-агентов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15468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Платформа, на которой город сам создаёт, проверяет и выпускает ИИ-агентов для своих ведомств — вместо аренды закрытой экосистемы вендора.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4315968"/>
            <a:ext cx="2011680" cy="0"/>
          </a:xfrm>
          <a:prstGeom prst="line">
            <a:avLst/>
          </a:prstGeom>
          <a:ln w="17780">
            <a:solidFill>
              <a:srgbClr val="9CC5B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4526280"/>
            <a:ext cx="8503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 i="0">
                <a:solidFill>
                  <a:srgbClr val="9CC5B9"/>
                </a:solidFill>
                <a:latin typeface="Calibri"/>
              </a:rPr>
              <a:t>Ядро-конструктор с открытым кодом на Mos.Hub, комнаты для взаимодействия агентов по протоколу A2A и конвейер аттестации с показателем зрелости каждого агента.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1">
                <a:solidFill>
                  <a:srgbClr val="9CC5B9"/>
                </a:solidFill>
                <a:latin typeface="Cambria"/>
              </a:rPr>
              <a:t>Oxtech — участник Московского инновационного кластера. Платформа агентов работает в production.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КОНТЕКСТ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Город выбирает, кому доверить ИИ-агентов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Платформы агентов быстро становятся инфраструктурой: на них замыкаются данные, процессы и компетенции ведомств. Кто владеет платформой — тот управляет этим слоем.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4160520" cy="3246120"/>
          </a:xfrm>
          <a:prstGeom prst="roundRect">
            <a:avLst>
              <a:gd name="adj" fmla="val 7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CC5B9"/>
                </a:solidFill>
                <a:latin typeface="Arial"/>
              </a:rPr>
              <a:t>ЧТО ПРЕДЛАГАЕТ РЫНОК СЕГОДНЯ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26080"/>
            <a:ext cx="3566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FFFFFF"/>
                </a:solidFill>
                <a:latin typeface="Arial"/>
              </a:rPr>
              <a:t>Аренда закрытой платформы в облаке вендора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60520"/>
            <a:ext cx="3566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CC5B9"/>
                </a:solidFill>
                <a:latin typeface="Calibri"/>
              </a:rPr>
              <a:t>Код, модели и план развития принадлежат поставщику. Город остаётся пользователем собственной автоматизации.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226771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240280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Зависимость растёт с каждым агентом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587752"/>
            <a:ext cx="58521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Чем больше процессов переведено на платформу вендора, тем дороже и болезненнее её замена.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15000" y="3200400"/>
            <a:ext cx="5852160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257800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364992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Данные и модели — вне контроля города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712464"/>
            <a:ext cx="58521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Запросы сотрудников и знания ведомств обрабатываются в чужой экосистеме по правилам поставщика.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15000" y="4325112"/>
            <a:ext cx="5852160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57800" y="451713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4489704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Развитие идёт по чужому плану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4837176"/>
            <a:ext cx="58521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Новые возможности появляются тогда, когда они нужны вендору, а не тогда, когда они нужны городу.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Мы предлагаем другой путь: платформу, которой владеет сам город.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ЦЕЛЕВАЯ 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Главная рутина ведомств — формализация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Значительная часть рабочего времени уходит на перенос сведений из свободных документов в поля информационных систем и на сверку значений между ними.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6771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40280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Контрольные соотношения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87752"/>
            <a:ext cx="58521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Значения в связанных документах и формах отчётности должны сходиться между собой; сегодня их сверяют вручную.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3200400"/>
            <a:ext cx="5852160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33924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64992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Комплектность пакетов документов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12464"/>
            <a:ext cx="58521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Состав пакета и заполненность обязательных полей проверяются глазами, ошибка обнаруживается поздно.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97280" y="4325112"/>
            <a:ext cx="5852160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451713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89704"/>
            <a:ext cx="5852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Ввод в городские системы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37176"/>
            <a:ext cx="5852160" cy="576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Данные из писем, сканов и таблиц переносятся в информационные системы копированием.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240280"/>
            <a:ext cx="4187952" cy="3246120"/>
          </a:xfrm>
          <a:prstGeom prst="roundRect">
            <a:avLst>
              <a:gd name="adj" fmla="val 7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25146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CC5B9"/>
                </a:solidFill>
                <a:latin typeface="Arial"/>
              </a:rPr>
              <a:t>ПОЧЕМУ ЭТО ЗАДАЧА ДЛЯ АГЕНТОВ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926080"/>
            <a:ext cx="356616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Понятный вход, формальный выход, проверяемый результат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389120"/>
            <a:ext cx="3566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9CC5B9"/>
                </a:solidFill>
                <a:latin typeface="Calibri"/>
              </a:rPr>
              <a:t>Агент читает, сверяет и готовит протокол. Решение и подпись остаются за сотрудником.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4584A"/>
                </a:solidFill>
                <a:latin typeface="Calibri"/>
              </a:rPr>
              <a:t>Пилотный сценарий — контрольные соотношения документов: узкая, массовая и измеримая задача.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ПРЕДЛОЖЕНИЕ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Небольшое ядро и понятные правила его расширения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Мы предлагаем не коробочный продукт, а фабрику: технологическое ядро с открытым кодом и правила, по которым город наращивает агентов своими силами.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529584" cy="320040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57860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63D2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44368"/>
            <a:ext cx="29443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25"/>
                </a:solidFill>
                <a:latin typeface="Arial"/>
              </a:rPr>
              <a:t>Ядро-конструктор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520440"/>
            <a:ext cx="294436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E6D68"/>
                </a:solidFill>
                <a:latin typeface="Calibri"/>
              </a:rPr>
              <a:t>Универсальный код агента и декларативная спецификация: роль, навыки, инструменты и права. Ядро публикуется в открытом коде на Mos.Hub и принадлежит городу.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2286000"/>
            <a:ext cx="3529584" cy="320040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57860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63D2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44368"/>
            <a:ext cx="29443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E2725"/>
                </a:solidFill>
                <a:latin typeface="Arial"/>
              </a:rPr>
              <a:t>Комнаты и правила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520440"/>
            <a:ext cx="294436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E6D68"/>
                </a:solidFill>
                <a:latin typeface="Calibri"/>
              </a:rPr>
              <a:t>Агенты добавляются в комнаты — городские площади, где они публикуют услуги и находят друг друга. Правила описывают, как добавлять инструменты, навыки и новые комнаты.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2286000"/>
            <a:ext cx="3529584" cy="3200400"/>
          </a:xfrm>
          <a:prstGeom prst="roundRect">
            <a:avLst>
              <a:gd name="adj" fmla="val 8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578608"/>
            <a:ext cx="548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9CC5B9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2944368"/>
            <a:ext cx="294436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Конвейер агентов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3520440"/>
            <a:ext cx="294436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9CC5B9"/>
                </a:solidFill>
                <a:latin typeface="Calibri"/>
              </a:rPr>
              <a:t>Заявка ведомства проходит путь от сборки в конструкторе до аттестации и выпуска. Каждый агент получает показатель зрелости, которому можно доверять.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Новая специальность агента — это конфигурация ядра, а не новая разработка.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ОТЛИЧИЕ ПОДХОДА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Фабрика города — это актив, а не подписка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Разница не в наборе функций, а в том, что остаётся у города после окончания контракта с поставщиком.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5029200" cy="3310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505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5E6D68"/>
                </a:solidFill>
                <a:latin typeface="Arial"/>
              </a:rPr>
              <a:t>АРЕНДА У ВЕНДОРА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61488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1E2725"/>
                </a:solidFill>
                <a:latin typeface="Arial"/>
              </a:rPr>
              <a:t>Готовая закрытая платформа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10128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63D2F"/>
                </a:solidFill>
                <a:latin typeface="Arial"/>
              </a:rPr>
              <a:t>●  </a:t>
            </a:r>
            <a:r>
              <a:rPr sz="1300" b="1" i="0">
                <a:solidFill>
                  <a:srgbClr val="1E2725"/>
                </a:solidFill>
                <a:latin typeface="Arial"/>
              </a:rPr>
              <a:t>Код закрыт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358444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E6D68"/>
                </a:solidFill>
                <a:latin typeface="Calibri"/>
              </a:rPr>
              <a:t>Развитие возможно только через план и тарифы поставщика.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41648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63D2F"/>
                </a:solidFill>
                <a:latin typeface="Arial"/>
              </a:rPr>
              <a:t>●  </a:t>
            </a:r>
            <a:r>
              <a:rPr sz="1300" b="1" i="0">
                <a:solidFill>
                  <a:srgbClr val="1E2725"/>
                </a:solidFill>
                <a:latin typeface="Arial"/>
              </a:rPr>
              <a:t>Облако вендора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431596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E6D68"/>
                </a:solidFill>
                <a:latin typeface="Calibri"/>
              </a:rPr>
              <a:t>Данные и модели ведомств обрабатываются вне контура города.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773168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63D2F"/>
                </a:solidFill>
                <a:latin typeface="Arial"/>
              </a:rPr>
              <a:t>●  </a:t>
            </a:r>
            <a:r>
              <a:rPr sz="1300" b="1" i="0">
                <a:solidFill>
                  <a:srgbClr val="1E2725"/>
                </a:solidFill>
                <a:latin typeface="Arial"/>
              </a:rPr>
              <a:t>Замена — новый проект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504748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E6D68"/>
                </a:solidFill>
                <a:latin typeface="Calibri"/>
              </a:rPr>
              <a:t>Через несколько лет миграция сравнима с внедрением с нуля.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88152" y="3703320"/>
            <a:ext cx="566928" cy="384048"/>
          </a:xfrm>
          <a:prstGeom prst="rightArrow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19672" y="2212848"/>
            <a:ext cx="5029200" cy="3310128"/>
          </a:xfrm>
          <a:prstGeom prst="roundRect">
            <a:avLst>
              <a:gd name="adj" fmla="val 8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245059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CC5B9"/>
                </a:solidFill>
                <a:latin typeface="Arial"/>
              </a:rPr>
              <a:t>ФАБРИКА ГОРОДА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761488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Собственная платформа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2" y="3310128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CC5B9"/>
                </a:solidFill>
                <a:latin typeface="Arial"/>
              </a:rPr>
              <a:t>● 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Ядро в открытом коде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41464" y="358444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CC5B9"/>
                </a:solidFill>
                <a:latin typeface="Calibri"/>
              </a:rPr>
              <a:t>Код опубликован на Mos.Hub; технология и данные принадлежат городу.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5432" y="4041648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CC5B9"/>
                </a:solidFill>
                <a:latin typeface="Arial"/>
              </a:rPr>
              <a:t>● 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Агентов создают свои команды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1464" y="431596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CC5B9"/>
                </a:solidFill>
                <a:latin typeface="Calibri"/>
              </a:rPr>
              <a:t>Ведомства, подрядчики и университеты работают по общим правилам.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5432" y="4773168"/>
            <a:ext cx="4343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CC5B9"/>
                </a:solidFill>
                <a:latin typeface="Arial"/>
              </a:rPr>
              <a:t>● 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Подрядчик заменяем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41464" y="504748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CC5B9"/>
                </a:solidFill>
                <a:latin typeface="Calibri"/>
              </a:rPr>
              <a:t>При смене исполнителя код, правила и данные остаются у города.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4584A"/>
                </a:solidFill>
                <a:latin typeface="Calibri"/>
              </a:rPr>
              <a:t>Город получает не продукт в пользование, а актив, который остаётся у него навсегда.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КАК УСТРОЕНО · КОНСТРУКТОР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Один код агента — много городских специальностей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Ядро одинаково для всех агентов, специальность задаётся спецификацией. Подход проверен в production-платформе Oxtech, где все агенты собираются из единой кодовой базы.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31720"/>
            <a:ext cx="3840480" cy="2880360"/>
          </a:xfrm>
          <a:prstGeom prst="roundRect">
            <a:avLst>
              <a:gd name="adj" fmla="val 7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57860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CC5B9"/>
                </a:solidFill>
                <a:latin typeface="Arial"/>
              </a:rPr>
              <a:t>УНИВЕРСАЛЬНОЕ ЯДРО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26080"/>
            <a:ext cx="32918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Сервер протокола A2A и карточка возможностей агента.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Клиент MCP для доступа к данным городских систем.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Аутентификация, лимиты, метрики и трассировка каждого шага.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617720" y="3566160"/>
            <a:ext cx="502920" cy="365760"/>
          </a:xfrm>
          <a:prstGeom prst="rightArrow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57800" y="2331720"/>
            <a:ext cx="3200400" cy="2880360"/>
          </a:xfrm>
          <a:prstGeom prst="roundRect">
            <a:avLst>
              <a:gd name="adj" fmla="val 7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2120" y="257860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4584A"/>
                </a:solidFill>
                <a:latin typeface="Arial"/>
              </a:rPr>
              <a:t>СПЕЦИФИКАЦИЯ АГЕНТА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2926080"/>
            <a:ext cx="265176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1E2725"/>
                </a:solidFill>
                <a:latin typeface="Calibri"/>
              </a:rPr>
              <a:t>Роль — системный промпт специальности.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1E2725"/>
                </a:solidFill>
                <a:latin typeface="Calibri"/>
              </a:rPr>
              <a:t>Навыки и набор инструментов.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1E2725"/>
                </a:solidFill>
                <a:latin typeface="Calibri"/>
              </a:rPr>
              <a:t>Права: белый список и комнаты.</a:t>
            </a:r>
          </a:p>
          <a:p>
            <a:pPr algn="l">
              <a:lnSpc>
                <a:spcPct val="110000"/>
              </a:lnSpc>
              <a:spcAft>
                <a:spcPts val="700"/>
              </a:spcAft>
            </a:pPr>
            <a:r>
              <a:rPr sz="1200" b="0" i="0">
                <a:solidFill>
                  <a:srgbClr val="1E2725"/>
                </a:solidFill>
                <a:latin typeface="Calibri"/>
              </a:rPr>
              <a:t>Модель, выбранная под сценарий.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33172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E6D68"/>
                </a:solidFill>
                <a:latin typeface="Arial"/>
              </a:rPr>
              <a:t>ПРИМЕРЫ СПЕЦИАЛЬНОСТЕЙ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2697480"/>
            <a:ext cx="2834640" cy="457200"/>
          </a:xfrm>
          <a:prstGeom prst="roundRect">
            <a:avLst>
              <a:gd name="adj" fmla="val 3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2779776"/>
            <a:ext cx="283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4584A"/>
                </a:solidFill>
                <a:latin typeface="Arial"/>
              </a:rPr>
              <a:t>Бухгалтер-контролёр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32520" y="3209544"/>
            <a:ext cx="2834640" cy="457200"/>
          </a:xfrm>
          <a:prstGeom prst="roundRect">
            <a:avLst>
              <a:gd name="adj" fmla="val 3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3291840"/>
            <a:ext cx="283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4584A"/>
                </a:solidFill>
                <a:latin typeface="Arial"/>
              </a:rPr>
              <a:t>Проверяющий комплекты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721608"/>
            <a:ext cx="2834640" cy="457200"/>
          </a:xfrm>
          <a:prstGeom prst="roundRect">
            <a:avLst>
              <a:gd name="adj" fmla="val 3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3803904"/>
            <a:ext cx="283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4584A"/>
                </a:solidFill>
                <a:latin typeface="Arial"/>
              </a:rPr>
              <a:t>Аналитик отчётности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32520" y="4233672"/>
            <a:ext cx="2834640" cy="457200"/>
          </a:xfrm>
          <a:prstGeom prst="roundRect">
            <a:avLst>
              <a:gd name="adj" fmla="val 3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4315968"/>
            <a:ext cx="283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4584A"/>
                </a:solidFill>
                <a:latin typeface="Arial"/>
              </a:rPr>
              <a:t>Регистратор обращений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4745736"/>
            <a:ext cx="2834640" cy="457200"/>
          </a:xfrm>
          <a:prstGeom prst="roundRect">
            <a:avLst>
              <a:gd name="adj" fmla="val 3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32520" y="4828032"/>
            <a:ext cx="28346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4584A"/>
                </a:solidFill>
                <a:latin typeface="Arial"/>
              </a:rPr>
              <a:t>Аттестатор агентов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532120"/>
            <a:ext cx="10908792" cy="685800"/>
          </a:xfrm>
          <a:prstGeom prst="roundRect">
            <a:avLst>
              <a:gd name="adj" fmla="val 16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32120"/>
            <a:ext cx="1036015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4584A"/>
                </a:solidFill>
                <a:latin typeface="Calibri"/>
              </a:rPr>
              <a:t>Сегодня в production Oxtech работает более 10 агентов и 140+ инструментов доступа к данным — каждый их вызов виден в трассировке.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КАК УСТРОЕНО · КОМНАТЫ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Комнаты — площади, где агенты находят друг друга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Комнат несколько, как площадей в городе: у каждой свои участники, свои данные и свои правила входа.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547872" cy="178308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25"/>
                </a:solidFill>
                <a:latin typeface="Arial"/>
              </a:rPr>
              <a:t>Комната «Финансы»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43200"/>
            <a:ext cx="3090672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25496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4584A"/>
                </a:solidFill>
                <a:latin typeface="Arial"/>
              </a:rPr>
              <a:t>Бухгалтер-контролёр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291840"/>
            <a:ext cx="3090672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374136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4584A"/>
                </a:solidFill>
                <a:latin typeface="Arial"/>
              </a:rPr>
              <a:t>Аналитик отчётности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2194560"/>
            <a:ext cx="3547872" cy="178308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235915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25"/>
                </a:solidFill>
                <a:latin typeface="Arial"/>
              </a:rPr>
              <a:t>Комната «Документы»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26864" y="2743200"/>
            <a:ext cx="3090672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26864" y="2825496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4584A"/>
                </a:solidFill>
                <a:latin typeface="Arial"/>
              </a:rPr>
              <a:t>Проверяющий комплекты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6864" y="3291840"/>
            <a:ext cx="3090672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26864" y="3374136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4584A"/>
                </a:solidFill>
                <a:latin typeface="Arial"/>
              </a:rPr>
              <a:t>Регистратор обращений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2194560"/>
            <a:ext cx="3547872" cy="178308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2359152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E2725"/>
                </a:solidFill>
                <a:latin typeface="Arial"/>
              </a:rPr>
              <a:t>Комната «Кадры»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5048" y="2743200"/>
            <a:ext cx="3090672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825496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4584A"/>
                </a:solidFill>
                <a:latin typeface="Arial"/>
              </a:rPr>
              <a:t>Подбор и проверки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85048" y="3291840"/>
            <a:ext cx="3090672" cy="43891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3374136"/>
            <a:ext cx="3090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4584A"/>
                </a:solidFill>
                <a:latin typeface="Arial"/>
              </a:rPr>
              <a:t>Кадровое делопроизводство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4114800"/>
            <a:ext cx="8165592" cy="530352"/>
          </a:xfrm>
          <a:prstGeom prst="roundRect">
            <a:avLst>
              <a:gd name="adj" fmla="val 30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40280" y="4114800"/>
            <a:ext cx="770839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4584A"/>
                </a:solidFill>
                <a:latin typeface="Calibri"/>
              </a:rPr>
              <a:t>Универсальные агенты — чтение документов, подготовка текстов, календарь — состоят сразу в нескольких комнатах.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864608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Discovery по карточкам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212080"/>
            <a:ext cx="502920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Каждый агент публикует карточку возможностей (A2A Agent Card); внутри комнаты исполнители находятся автоматически.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9204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4864608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Вход в комнату — это права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5212080"/>
            <a:ext cx="4690872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Агент видит только данные и агентов своей площади; границы комнат — границы доступа.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Чтобы подключить нового агента, его достаточно добавить в комнату — связи выстроятся сами.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КАК УСТРОЕНО · ПРОТОКОЛЫ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MCP отвечает за данные, A2A — за координацию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Мировая практика мультиагентных систем закрепила разделение слоёв: доступ к данным и взаимодействие агентов — разные задачи с разными протоколами.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349240" cy="237744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2374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E6D68"/>
                </a:solidFill>
                <a:latin typeface="Arial"/>
              </a:rPr>
              <a:t>MCP · MODEL CONTEXT PROTOCOL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1E2725"/>
                </a:solidFill>
                <a:latin typeface="Arial"/>
              </a:rPr>
              <a:t>Доступ агента к данным города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48006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Соединяет агента с инструментами и данными городских систем: справочники, документы, календари, финансы. Все вызовы идут по описанным схемам через единый слой.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2286000"/>
            <a:ext cx="5349240" cy="2377440"/>
          </a:xfrm>
          <a:prstGeom prst="roundRect">
            <a:avLst>
              <a:gd name="adj" fmla="val 8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52374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CC5B9"/>
                </a:solidFill>
                <a:latin typeface="Arial"/>
              </a:rPr>
              <a:t>A2A · AGENT-TO-AGENT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852928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FFFFFF"/>
                </a:solidFill>
                <a:latin typeface="Arial"/>
              </a:rPr>
              <a:t>Взаимодействие агентов между собой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3310128"/>
            <a:ext cx="48006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9CC5B9"/>
                </a:solidFill>
                <a:latin typeface="Calibri"/>
              </a:rPr>
              <a:t>Связывает агентов: карточки возможностей, задачи с жизненным циклом, встречные вопросы и длительная работа с промежуточным прогрессом.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846320"/>
            <a:ext cx="10908792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974336"/>
            <a:ext cx="10378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E2725"/>
                </a:solidFill>
                <a:latin typeface="Calibri"/>
              </a:rPr>
              <a:t>Почему это важно: </a:t>
            </a:r>
            <a:r>
              <a:rPr sz="1200" b="0" i="0">
                <a:solidFill>
                  <a:srgbClr val="5E6D68"/>
                </a:solidFill>
                <a:latin typeface="Calibri"/>
              </a:rPr>
              <a:t>платформы, где агенты вызывают друг друга как функции через MCP, теряют жизненный цикл задач, встречные вопросы и discovery. В фабрике каждый межагентный вызов идёт по A2A и виден в трассировке.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Открытые протоколы вместо закрытых интерфейсов: город не заперт в чьей-либо экосистеме.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КАК УСТРОЕНО · ФАБРИКА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Каждый агент проходит конвейер и получает зрелость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Фабрика — это порядок появления агентов: от заявки ведомства до выпуска на площадь. Никакой агент не попадает к данным города без аттестации.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719" y="2834640"/>
            <a:ext cx="8741665" cy="0"/>
          </a:xfrm>
          <a:prstGeom prst="line">
            <a:avLst/>
          </a:prstGeom>
          <a:ln w="2032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60119" y="260604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6974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63D2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7296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25"/>
                </a:solidFill>
                <a:latin typeface="Arial"/>
              </a:rPr>
              <a:t>Заявка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59" y="3493008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Ведомство описывает задачу и требуемый результат.</a:t>
            </a:r>
          </a:p>
        </p:txBody>
      </p:sp>
      <p:sp>
        <p:nvSpPr>
          <p:cNvPr id="11" name="Oval 10"/>
          <p:cNvSpPr/>
          <p:nvPr/>
        </p:nvSpPr>
        <p:spPr>
          <a:xfrm>
            <a:off x="3145536" y="260604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5536" y="26974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63D2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317296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25"/>
                </a:solidFill>
                <a:latin typeface="Arial"/>
              </a:rPr>
              <a:t>Сборка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9776" y="3493008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Специальность собирается из ядра и спецификации.</a:t>
            </a:r>
          </a:p>
        </p:txBody>
      </p:sp>
      <p:sp>
        <p:nvSpPr>
          <p:cNvPr id="15" name="Oval 14"/>
          <p:cNvSpPr/>
          <p:nvPr/>
        </p:nvSpPr>
        <p:spPr>
          <a:xfrm>
            <a:off x="5330952" y="260604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26974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63D2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317296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25"/>
                </a:solidFill>
                <a:latin typeface="Arial"/>
              </a:rPr>
              <a:t>Песочница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3493008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Агент решает эталонные задания на тестовых данных.</a:t>
            </a:r>
          </a:p>
        </p:txBody>
      </p:sp>
      <p:sp>
        <p:nvSpPr>
          <p:cNvPr id="19" name="Oval 18"/>
          <p:cNvSpPr/>
          <p:nvPr/>
        </p:nvSpPr>
        <p:spPr>
          <a:xfrm>
            <a:off x="7516368" y="2606040"/>
            <a:ext cx="457200" cy="457200"/>
          </a:xfrm>
          <a:prstGeom prst="ellipse">
            <a:avLst/>
          </a:prstGeom>
          <a:solidFill>
            <a:srgbClr val="14584A"/>
          </a:solidFill>
          <a:ln w="17780">
            <a:solidFill>
              <a:srgbClr val="145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8" y="26974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6328" y="317296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4584A"/>
                </a:solidFill>
                <a:latin typeface="Arial"/>
              </a:rPr>
              <a:t>Аттестация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3493008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Оценка качества и допуск к реальным данным.</a:t>
            </a:r>
          </a:p>
        </p:txBody>
      </p:sp>
      <p:sp>
        <p:nvSpPr>
          <p:cNvPr id="23" name="Oval 22"/>
          <p:cNvSpPr/>
          <p:nvPr/>
        </p:nvSpPr>
        <p:spPr>
          <a:xfrm>
            <a:off x="9701784" y="260604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01784" y="26974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63D2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81744" y="317296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25"/>
                </a:solidFill>
                <a:latin typeface="Arial"/>
              </a:rPr>
              <a:t>Выпуск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3493008"/>
            <a:ext cx="2103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Агент появляется в комнате и доступен через discovery.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348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E6D68"/>
                </a:solidFill>
                <a:latin typeface="Arial"/>
              </a:rPr>
              <a:t>ШКАЛА ЗРЕЛОСТИ АГЕНТА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754880"/>
            <a:ext cx="2075688" cy="475488"/>
          </a:xfrm>
          <a:prstGeom prst="roundRect">
            <a:avLst>
              <a:gd name="adj" fmla="val 3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864608"/>
            <a:ext cx="2075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E6D68"/>
                </a:solidFill>
                <a:latin typeface="Arial"/>
              </a:rPr>
              <a:t>Прототип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48356" y="4754880"/>
            <a:ext cx="2075688" cy="475488"/>
          </a:xfrm>
          <a:prstGeom prst="roundRect">
            <a:avLst>
              <a:gd name="adj" fmla="val 3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48356" y="4864608"/>
            <a:ext cx="2075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5E6D68"/>
                </a:solidFill>
                <a:latin typeface="Arial"/>
              </a:rPr>
              <a:t>Песочница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56632" y="4754880"/>
            <a:ext cx="2075688" cy="475488"/>
          </a:xfrm>
          <a:prstGeom prst="roundRect">
            <a:avLst>
              <a:gd name="adj" fmla="val 30000"/>
            </a:avLst>
          </a:prstGeom>
          <a:solidFill>
            <a:srgbClr val="E7F2EE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56632" y="4864608"/>
            <a:ext cx="2075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4584A"/>
                </a:solidFill>
                <a:latin typeface="Arial"/>
              </a:rPr>
              <a:t>Аттестован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64908" y="4754880"/>
            <a:ext cx="2075688" cy="475488"/>
          </a:xfrm>
          <a:prstGeom prst="roundRect">
            <a:avLst>
              <a:gd name="adj" fmla="val 30000"/>
            </a:avLst>
          </a:prstGeom>
          <a:solidFill>
            <a:srgbClr val="E7F2EE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4908" y="4864608"/>
            <a:ext cx="2075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4584A"/>
                </a:solidFill>
                <a:latin typeface="Arial"/>
              </a:rPr>
              <a:t>Production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73184" y="4754880"/>
            <a:ext cx="2075688" cy="475488"/>
          </a:xfrm>
          <a:prstGeom prst="roundRect">
            <a:avLst>
              <a:gd name="adj" fmla="val 30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73184" y="4864608"/>
            <a:ext cx="20756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Ветеран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577840"/>
            <a:ext cx="10908792" cy="658368"/>
          </a:xfrm>
          <a:prstGeom prst="roundRect">
            <a:avLst>
              <a:gd name="adj" fmla="val 16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577840"/>
            <a:ext cx="1036015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Оценку проводит агент-аттестатор на самой сильной доступной модели, финальный допуск подтверждает человек.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КАК УСТРОЕНО ·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Модель подбирается осознанно под каждый сценарий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Агенты обращаются к моделям через единый OpenAI-совместимый шлюз, поэтому выбор модели — это строка конфигурации, а не переделка агента.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12848"/>
            <a:ext cx="7635240" cy="777240"/>
          </a:xfrm>
          <a:prstGeom prst="roundRect">
            <a:avLst>
              <a:gd name="adj" fmla="val 10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7132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4584A"/>
                </a:solidFill>
                <a:latin typeface="Arial"/>
              </a:rPr>
              <a:t>Дообученные модели города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96896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E6D68"/>
                </a:solidFill>
                <a:latin typeface="Calibri"/>
              </a:rPr>
              <a:t>Основной контур: агенты работают на моделях, которые ДИТ уже дообучает под городские задачи (LoRA).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81528"/>
            <a:ext cx="7635240" cy="777240"/>
          </a:xfrm>
          <a:prstGeom prst="roundRect">
            <a:avLst>
              <a:gd name="adj" fmla="val 1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7132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25"/>
                </a:solidFill>
                <a:latin typeface="Arial"/>
              </a:rPr>
              <a:t>Российские коммерческие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65576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E6D68"/>
                </a:solidFill>
                <a:latin typeface="Calibri"/>
              </a:rPr>
              <a:t>GigaChat и YandexGPT подключаются через тот же шлюз для задач, где это оправдано, — без привязки агентов к вендору.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50208"/>
            <a:ext cx="7635240" cy="777240"/>
          </a:xfrm>
          <a:prstGeom prst="roundRect">
            <a:avLst>
              <a:gd name="adj" fmla="val 1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7132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25"/>
                </a:solidFill>
                <a:latin typeface="Arial"/>
              </a:rPr>
              <a:t>Локальные open-source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34256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E6D68"/>
                </a:solidFill>
                <a:latin typeface="Calibri"/>
              </a:rPr>
              <a:t>Для закрытых контуров и чувствительных данных модели разворачиваются в периметре города.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18888"/>
            <a:ext cx="7635240" cy="777240"/>
          </a:xfrm>
          <a:prstGeom prst="roundRect">
            <a:avLst>
              <a:gd name="adj" fmla="val 10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892040"/>
            <a:ext cx="71323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E2725"/>
                </a:solidFill>
                <a:latin typeface="Arial"/>
              </a:rPr>
              <a:t>Передовые зарубежные — точечно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02936"/>
            <a:ext cx="7132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E6D68"/>
                </a:solidFill>
                <a:latin typeface="Calibri"/>
              </a:rPr>
              <a:t>Только в разрешённых сценариях без персональных данных, например для аттестации зрелости агентов.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2240280"/>
            <a:ext cx="3090672" cy="3291840"/>
          </a:xfrm>
          <a:prstGeom prst="roundRect">
            <a:avLst>
              <a:gd name="adj" fmla="val 7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32520" y="248716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CC5B9"/>
                </a:solidFill>
                <a:latin typeface="Arial"/>
              </a:rPr>
              <a:t>ЕДИНЫЙ ШЛЮЗ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834640"/>
            <a:ext cx="256032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Агенты не привязаны к поставщику моделей.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Расход токенов учитывается по каждому контуру.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Лимиты и аудит всех обращений к моделям.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Смена модели не требует переписывать агента.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4584A"/>
                </a:solidFill>
                <a:latin typeface="Calibri"/>
              </a:rPr>
              <a:t>Город не привязан ни к одному поставщику моделей — включая нас.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СРАВНЕНИЕ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Собственная фабрика против аренды GigaCowork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Сравнение по открытым данным о платформе GigaCowork («Салют для бизнеса», открытый тестовый доступ с 19 мая 2026 года).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240280"/>
          <a:ext cx="1090879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114800"/>
                <a:gridCol w="4690872"/>
              </a:tblGrid>
              <a:tr h="470262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>
                    <a:solidFill>
                      <a:srgbClr val="1E272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Аренда: GigaCowork</a:t>
                      </a:r>
                    </a:p>
                  </a:txBody>
                  <a:tcPr>
                    <a:solidFill>
                      <a:srgbClr val="0F47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Arial"/>
                        </a:rPr>
                        <a:t>Владение: фабрика города</a:t>
                      </a:r>
                    </a:p>
                  </a:txBody>
                  <a:tcPr>
                    <a:solidFill>
                      <a:srgbClr val="14584A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25"/>
                          </a:solidFill>
                          <a:latin typeface="Calibri"/>
                        </a:rPr>
                        <a:t>Владение кодом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E6D68"/>
                          </a:solidFill>
                          <a:latin typeface="Calibri"/>
                        </a:rPr>
                        <a:t>Закрытая платформа Сбера.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473B"/>
                          </a:solidFill>
                          <a:latin typeface="Calibri"/>
                        </a:rPr>
                        <a:t>Открытое ядро на Mos.Hub — код принадлежит городу.</a:t>
                      </a:r>
                    </a:p>
                  </a:txBody>
                  <a:tcPr>
                    <a:solidFill>
                      <a:srgbClr val="E7F2EE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25"/>
                          </a:solidFill>
                          <a:latin typeface="Calibri"/>
                        </a:rPr>
                        <a:t>Данные и контур</a:t>
                      </a:r>
                    </a:p>
                  </a:txBody>
                  <a:tcPr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E6D68"/>
                          </a:solidFill>
                          <a:latin typeface="Calibri"/>
                        </a:rPr>
                        <a:t>Облако вендора; on-premise не заявлен.</a:t>
                      </a:r>
                    </a:p>
                  </a:txBody>
                  <a:tcPr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473B"/>
                          </a:solidFill>
                          <a:latin typeface="Calibri"/>
                        </a:rPr>
                        <a:t>Полностью в периметре города.</a:t>
                      </a:r>
                    </a:p>
                  </a:txBody>
                  <a:tcPr>
                    <a:solidFill>
                      <a:srgbClr val="E7F2EE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25"/>
                          </a:solidFill>
                          <a:latin typeface="Calibri"/>
                        </a:rPr>
                        <a:t>Модели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E6D68"/>
                          </a:solidFill>
                          <a:latin typeface="Calibri"/>
                        </a:rPr>
                        <a:t>Экосистема GigaChat.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473B"/>
                          </a:solidFill>
                          <a:latin typeface="Calibri"/>
                        </a:rPr>
                        <a:t>Модели города и любые другие через шлюз, выбор под сценарий.</a:t>
                      </a:r>
                    </a:p>
                  </a:txBody>
                  <a:tcPr>
                    <a:solidFill>
                      <a:srgbClr val="E7F2EE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25"/>
                          </a:solidFill>
                          <a:latin typeface="Calibri"/>
                        </a:rPr>
                        <a:t>Создание агентов</a:t>
                      </a:r>
                    </a:p>
                  </a:txBody>
                  <a:tcPr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E6D68"/>
                          </a:solidFill>
                          <a:latin typeface="Calibri"/>
                        </a:rPr>
                        <a:t>Self-service: сотрудник описывает регламент в чате.</a:t>
                      </a:r>
                    </a:p>
                  </a:txBody>
                  <a:tcPr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473B"/>
                          </a:solidFill>
                          <a:latin typeface="Calibri"/>
                        </a:rPr>
                        <a:t>Фабрика: сборка, песочница, аттестация и показатель зрелости.</a:t>
                      </a:r>
                    </a:p>
                  </a:txBody>
                  <a:tcPr>
                    <a:solidFill>
                      <a:srgbClr val="E7F2EE"/>
                    </a:solidFill>
                  </a:tcPr>
                </a:tc>
              </a:tr>
              <a:tr h="47026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25"/>
                          </a:solidFill>
                          <a:latin typeface="Calibri"/>
                        </a:rPr>
                        <a:t>Связь агентов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E6D68"/>
                          </a:solidFill>
                          <a:latin typeface="Calibri"/>
                        </a:rPr>
                        <a:t>MCP-интеграции; протокол агент–агент не заявлен.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473B"/>
                          </a:solidFill>
                          <a:latin typeface="Calibri"/>
                        </a:rPr>
                        <a:t>A2A с discovery по комнатам; каждый вызов в трассировке.</a:t>
                      </a:r>
                    </a:p>
                  </a:txBody>
                  <a:tcPr>
                    <a:solidFill>
                      <a:srgbClr val="E7F2EE"/>
                    </a:solidFill>
                  </a:tcPr>
                </a:tc>
              </a:tr>
              <a:tr h="4702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E2725"/>
                          </a:solidFill>
                          <a:latin typeface="Calibri"/>
                        </a:rPr>
                        <a:t>Развитие</a:t>
                      </a:r>
                    </a:p>
                  </a:txBody>
                  <a:tcPr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5E6D68"/>
                          </a:solidFill>
                          <a:latin typeface="Calibri"/>
                        </a:rPr>
                        <a:t>По плану вендора.</a:t>
                      </a:r>
                    </a:p>
                  </a:txBody>
                  <a:tcPr>
                    <a:solidFill>
                      <a:srgbClr val="F3F6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F473B"/>
                          </a:solidFill>
                          <a:latin typeface="Calibri"/>
                        </a:rPr>
                        <a:t>По правилам города: витрина навыков и заказы университетам.</a:t>
                      </a:r>
                    </a:p>
                  </a:txBody>
                  <a:tcPr>
                    <a:solidFill>
                      <a:srgbClr val="E7F2E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742432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742432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GigaCowork автоматизирует сотрудника. Фабрика создаёт управляемый парк агентов, которым владеет город.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МАСШТАБИРОВАНИЕ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Витрина навыков превращает расширение в рынок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Городу понадобится всё больше агентов и инструментов. Вместо заказа каждого навыка у вендора фабрика выращивает рынок исполнителей вокруг открытого ядра.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88719" y="2697480"/>
            <a:ext cx="8741665" cy="0"/>
          </a:xfrm>
          <a:prstGeom prst="line">
            <a:avLst/>
          </a:prstGeom>
          <a:ln w="2032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60119" y="246888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19" y="25603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63D2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3035808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25"/>
                </a:solidFill>
                <a:latin typeface="Arial"/>
              </a:rPr>
              <a:t>Ведомство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59" y="335584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Публикует на витрине потребность в навыке или агенте.</a:t>
            </a:r>
          </a:p>
        </p:txBody>
      </p:sp>
      <p:sp>
        <p:nvSpPr>
          <p:cNvPr id="11" name="Oval 10"/>
          <p:cNvSpPr/>
          <p:nvPr/>
        </p:nvSpPr>
        <p:spPr>
          <a:xfrm>
            <a:off x="3145536" y="2468880"/>
            <a:ext cx="457200" cy="457200"/>
          </a:xfrm>
          <a:prstGeom prst="ellipse">
            <a:avLst/>
          </a:prstGeom>
          <a:solidFill>
            <a:srgbClr val="14584A"/>
          </a:solidFill>
          <a:ln w="17780">
            <a:solidFill>
              <a:srgbClr val="145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45536" y="25603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6" y="3035808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4584A"/>
                </a:solidFill>
                <a:latin typeface="Arial"/>
              </a:rPr>
              <a:t>Витрина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9776" y="335584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Каталог инструментов и навыков со статусом зрелости каждого.</a:t>
            </a:r>
          </a:p>
        </p:txBody>
      </p:sp>
      <p:sp>
        <p:nvSpPr>
          <p:cNvPr id="15" name="Oval 14"/>
          <p:cNvSpPr/>
          <p:nvPr/>
        </p:nvSpPr>
        <p:spPr>
          <a:xfrm>
            <a:off x="5330952" y="246888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25603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63D2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65192" y="3035808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25"/>
                </a:solidFill>
                <a:latin typeface="Arial"/>
              </a:rPr>
              <a:t>Университеты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5192" y="335584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Команды берут оплачиваемые заказы на разработку.</a:t>
            </a:r>
          </a:p>
        </p:txBody>
      </p:sp>
      <p:sp>
        <p:nvSpPr>
          <p:cNvPr id="19" name="Oval 18"/>
          <p:cNvSpPr/>
          <p:nvPr/>
        </p:nvSpPr>
        <p:spPr>
          <a:xfrm>
            <a:off x="7516368" y="246888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8" y="25603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63D2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3035808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25"/>
                </a:solidFill>
                <a:latin typeface="Arial"/>
              </a:rPr>
              <a:t>Фабрика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335584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Чужие навыки проходят ту же аттестацию, что и городские.</a:t>
            </a:r>
          </a:p>
        </p:txBody>
      </p:sp>
      <p:sp>
        <p:nvSpPr>
          <p:cNvPr id="23" name="Oval 22"/>
          <p:cNvSpPr/>
          <p:nvPr/>
        </p:nvSpPr>
        <p:spPr>
          <a:xfrm>
            <a:off x="9701784" y="2468880"/>
            <a:ext cx="457200" cy="45720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01784" y="25603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63D2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36024" y="3035808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1E2725"/>
                </a:solidFill>
                <a:latin typeface="Arial"/>
              </a:rPr>
              <a:t>Комнаты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3355848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050" b="0" i="0">
                <a:solidFill>
                  <a:srgbClr val="5E6D68"/>
                </a:solidFill>
                <a:latin typeface="Calibri"/>
              </a:rPr>
              <a:t>Готовый навык становится доступен агентам города.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46227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43484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Устойчивая экономика, а не хакатоны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782312"/>
            <a:ext cx="50292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Университетские команды получают оплачиваемые заказы и методички по SDK — поток навыков не иссякает после разового конкурса.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46227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434840"/>
            <a:ext cx="46908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Синергия с городскими программами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782312"/>
            <a:ext cx="4690872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Витрина опирается на существующую экосистему: хакатон «Лидеры Цифровой Трансформации», Академия инноваторов и программы МИК.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4584A"/>
                </a:solidFill>
                <a:latin typeface="Calibri"/>
              </a:rPr>
              <a:t>Каждый навык на витрине несёт показатель зрелости — заказчик видит, чему можно доверять.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ПИЛОТ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Пилот за 6–8 недель: контрольные соотношения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Узкий и измеримый сценарий в одном ведомстве, в контуре города, с фиксацией метрик до и после. Три агента из конструктора закрывают процесс целиком.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547872" cy="173736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688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6148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Чтение пакета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27248"/>
            <a:ext cx="3054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150" b="0" i="0">
                <a:solidFill>
                  <a:srgbClr val="5E6D68"/>
                </a:solidFill>
                <a:latin typeface="Calibri"/>
              </a:rPr>
              <a:t>Агент-чтец извлекает значения из документов, сканов и форм и переводит их в структурированный вид.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2286000"/>
            <a:ext cx="3547872" cy="173736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4688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76148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Сверка соотношений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3127248"/>
            <a:ext cx="3054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150" b="0" i="0">
                <a:solidFill>
                  <a:srgbClr val="5E6D68"/>
                </a:solidFill>
                <a:latin typeface="Calibri"/>
              </a:rPr>
              <a:t>Агент-контролёр проверяет контрольные соотношения по правилам ведомства и находит расхождения.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286000"/>
            <a:ext cx="3547872" cy="1737360"/>
          </a:xfrm>
          <a:prstGeom prst="roundRect">
            <a:avLst>
              <a:gd name="adj" fmla="val 8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46888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61488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Протокол расхождений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27248"/>
            <a:ext cx="305409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150" b="0" i="0">
                <a:solidFill>
                  <a:srgbClr val="5E6D68"/>
                </a:solidFill>
                <a:latin typeface="Calibri"/>
              </a:rPr>
              <a:t>Агент-писарь готовит протокол; сотрудник проверяет и подтверждает результат.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24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E6D68"/>
                </a:solidFill>
                <a:latin typeface="Arial"/>
              </a:rPr>
              <a:t>ЧТО ИЗМЕРЯЕМ ДО И ПОСЛЕ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553712"/>
            <a:ext cx="35478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681728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4584A"/>
                </a:solidFill>
                <a:latin typeface="Arial"/>
              </a:rPr>
              <a:t>Время проверки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992624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5E6D68"/>
                </a:solidFill>
                <a:latin typeface="Calibri"/>
              </a:rPr>
              <a:t>Сколько занимает проверка одного пакета документов.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98264" y="4553712"/>
            <a:ext cx="35478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54296" y="4681728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4584A"/>
                </a:solidFill>
                <a:latin typeface="Arial"/>
              </a:rPr>
              <a:t>Доля расхождений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4992624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5E6D68"/>
                </a:solidFill>
                <a:latin typeface="Calibri"/>
              </a:rPr>
              <a:t>Сколько расхождений нашли агенты и подтвердили люди.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56448" y="4553712"/>
            <a:ext cx="35478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681728"/>
            <a:ext cx="3017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4584A"/>
                </a:solidFill>
                <a:latin typeface="Arial"/>
              </a:rPr>
              <a:t>Часы сотрудников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992624"/>
            <a:ext cx="30540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5E6D68"/>
                </a:solidFill>
                <a:latin typeface="Calibri"/>
              </a:rPr>
              <a:t>Сколько времени высвобождено с рутинной сверки.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779008"/>
            <a:ext cx="10908792" cy="548640"/>
          </a:xfrm>
          <a:prstGeom prst="roundRect">
            <a:avLst>
              <a:gd name="adj" fmla="val 16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779008"/>
            <a:ext cx="10360152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Каждое действие агентов записывается в трассировку, значимые решения подтверждает сотрудник — принцип human-in-the-loop.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5E6D68"/>
                </a:solidFill>
                <a:latin typeface="Arial"/>
              </a:rPr>
              <a:t>ДОРОЖНАЯ КАРТА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E2725"/>
                </a:solidFill>
                <a:latin typeface="Arial"/>
              </a:rPr>
              <a:t>Три этапа: от пилота к городской фабрике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E6D68"/>
                </a:solidFill>
                <a:latin typeface="Calibri"/>
              </a:rPr>
              <a:t>Каждый этап завершается проверяемым результатом, и город в любой точке остаётся владельцем всего созданного.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547872" cy="196596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C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231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Этап 1 · Пилот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7706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4584A"/>
                </a:solidFill>
                <a:latin typeface="Arial"/>
              </a:rPr>
              <a:t>6–8 недель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08960"/>
            <a:ext cx="30540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E6D68"/>
                </a:solidFill>
                <a:latin typeface="Calibri"/>
              </a:rPr>
              <a:t>Контрольные соотношения в одном ведомстве, подключение моделей города к шлюзу и фиксация метрик до и после.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8264" y="2240280"/>
            <a:ext cx="3547872" cy="1965960"/>
          </a:xfrm>
          <a:prstGeom prst="roundRect">
            <a:avLst>
              <a:gd name="adj" fmla="val 8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24231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Этап 2 · Ядро и комнаты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7706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4584A"/>
                </a:solidFill>
                <a:latin typeface="Arial"/>
              </a:rPr>
              <a:t>3–4 месяца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3108960"/>
            <a:ext cx="30540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5E6D68"/>
                </a:solidFill>
                <a:latin typeface="Calibri"/>
              </a:rPr>
              <a:t>Публикация ядра на Mos.Hub, запуск комнат с discovery, правил расширения и конвейера с песочницей и аттестацией.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240280"/>
            <a:ext cx="3547872" cy="1965960"/>
          </a:xfrm>
          <a:prstGeom prst="roundRect">
            <a:avLst>
              <a:gd name="adj" fmla="val 8000"/>
            </a:avLst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4231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Этап 3 · Экосистема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70632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CC5B9"/>
                </a:solidFill>
                <a:latin typeface="Arial"/>
              </a:rPr>
              <a:t>Далее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108960"/>
            <a:ext cx="305409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CC5B9"/>
                </a:solidFill>
                <a:latin typeface="Calibri"/>
              </a:rPr>
              <a:t>Витрина инструментов и навыков, оплачиваемые заказы университетам и тираж на ведомства города.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0799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480560"/>
            <a:ext cx="10451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ДИТ Москвы — владелец и оператор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28032"/>
            <a:ext cx="10451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Инсталляция, данные и процесс аттестации принадлежат городу; платформу эксплуатирует команда ДИТ.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97280" y="5138928"/>
            <a:ext cx="104515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52212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63D2F"/>
                </a:solidFill>
                <a:latin typeface="Arial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193792"/>
            <a:ext cx="104515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E2725"/>
                </a:solidFill>
                <a:latin typeface="Arial"/>
              </a:rPr>
              <a:t>Oxtech — технологический партнёр ядра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41264"/>
            <a:ext cx="104515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 i="0">
                <a:solidFill>
                  <a:srgbClr val="5E6D68"/>
                </a:solidFill>
                <a:latin typeface="Calibri"/>
              </a:rPr>
              <a:t>Архитектура и сопровождение ядра, обучение команд, ревью расширений и поддержка с SLA; подрядчик заменяем по построению.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870448"/>
            <a:ext cx="10908792" cy="475488"/>
          </a:xfrm>
          <a:prstGeom prst="roundRect">
            <a:avLst>
              <a:gd name="adj" fmla="val 16000"/>
            </a:avLst>
          </a:prstGeom>
          <a:solidFill>
            <a:srgbClr val="E7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870448"/>
            <a:ext cx="1036015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4584A"/>
                </a:solidFill>
                <a:latin typeface="Calibri"/>
              </a:rPr>
              <a:t>Университеты дополняют схему как поставщики навыков через витрину — по оплачиваемым заказам.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455664"/>
            <a:ext cx="10908792" cy="0"/>
          </a:xfrm>
          <a:prstGeom prst="line">
            <a:avLst/>
          </a:prstGeom>
          <a:ln w="11430">
            <a:solidFill>
              <a:srgbClr val="DCE5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652881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584A"/>
                </a:solidFill>
                <a:latin typeface="Cambria"/>
              </a:rPr>
              <a:t>Oxtech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547104"/>
            <a:ext cx="9418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5E6D6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63D2F"/>
                </a:solidFill>
                <a:latin typeface="Arial"/>
              </a:rPr>
              <a:t>★  </a:t>
            </a:r>
            <a:r>
              <a:rPr sz="1100" b="1" i="0">
                <a:solidFill>
                  <a:srgbClr val="9CC5B9"/>
                </a:solidFill>
                <a:latin typeface="Arial"/>
              </a:rPr>
              <a:t>О КОМАНДЕ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Arial"/>
              </a:rPr>
              <a:t>Почему Oxtech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5367528" cy="1426464"/>
          </a:xfrm>
          <a:prstGeom prst="roundRect">
            <a:avLst>
              <a:gd name="adj" fmla="val 8000"/>
            </a:avLst>
          </a:prstGeom>
          <a:solidFill>
            <a:srgbClr val="0F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5798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CC5B9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39696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Платформа уже в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468880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100" b="0" i="0">
                <a:solidFill>
                  <a:srgbClr val="9CC5B9"/>
                </a:solidFill>
                <a:latin typeface="Calibri"/>
              </a:rPr>
              <a:t>Команда агентов, более 140 инструментов доступа к данным, трассировка и учёт токенов работают сегодня — это не концепт, а действующая система.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2011680"/>
            <a:ext cx="5367528" cy="1426464"/>
          </a:xfrm>
          <a:prstGeom prst="roundRect">
            <a:avLst>
              <a:gd name="adj" fmla="val 8000"/>
            </a:avLst>
          </a:prstGeom>
          <a:solidFill>
            <a:srgbClr val="0F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2157984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CC5B9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7144" y="2139696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Права оформлены на юрлицо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7144" y="2468880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100" b="0" i="0">
                <a:solidFill>
                  <a:srgbClr val="9CC5B9"/>
                </a:solidFill>
                <a:latin typeface="Calibri"/>
              </a:rPr>
              <a:t>Свидетельство о госрегистрации ПО «Oxtech Agents» № 2026613582 от 06.02.2026; правообладатель — ООО «ОКСТЕХ», исполнитель по договору.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84448"/>
            <a:ext cx="5367528" cy="1426464"/>
          </a:xfrm>
          <a:prstGeom prst="roundRect">
            <a:avLst>
              <a:gd name="adj" fmla="val 8000"/>
            </a:avLst>
          </a:prstGeom>
          <a:solidFill>
            <a:srgbClr val="0F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307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CC5B9"/>
                </a:solidFill>
                <a:latin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712463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Участник инновационного кластера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041648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100" b="0" i="0">
                <a:solidFill>
                  <a:srgbClr val="9CC5B9"/>
                </a:solidFill>
                <a:latin typeface="Calibri"/>
              </a:rPr>
              <a:t>Резидент Московского инновационного кластера с профилем на i.moscow — знакомые городу процедуры пилотов и поддержки.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3584448"/>
            <a:ext cx="5367528" cy="1426464"/>
          </a:xfrm>
          <a:prstGeom prst="roundRect">
            <a:avLst>
              <a:gd name="adj" fmla="val 8000"/>
            </a:avLst>
          </a:prstGeom>
          <a:solidFill>
            <a:srgbClr val="0F47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37307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CC5B9"/>
                </a:solidFill>
                <a:latin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144" y="3712463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rial"/>
              </a:rPr>
              <a:t>Открытый код — часть практики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67144" y="4041648"/>
            <a:ext cx="4526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100" b="0" i="0">
                <a:solidFill>
                  <a:srgbClr val="9CC5B9"/>
                </a:solidFill>
                <a:latin typeface="Calibri"/>
              </a:rPr>
              <a:t>Библиотека ox-ai-workers опубликована под MIT и сопровождается с 2024 года; публикация ядра на Mos.Hub для нас естественный шаг.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49240"/>
            <a:ext cx="10908792" cy="56692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103601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C63D2F"/>
                </a:solidFill>
                <a:latin typeface="Calibri"/>
              </a:rPr>
              <a:t>Следующий шаг: </a:t>
            </a:r>
            <a:r>
              <a:rPr sz="1350" b="1" i="0">
                <a:solidFill>
                  <a:srgbClr val="0F473B"/>
                </a:solidFill>
                <a:latin typeface="Calibri"/>
              </a:rPr>
              <a:t>демонстрация живой системы и выбор ведомства для пилота.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1447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oxteam.me</a:t>
            </a:r>
            <a:r>
              <a:rPr sz="1300" b="0" i="0">
                <a:solidFill>
                  <a:srgbClr val="9CC5B9"/>
                </a:solidFill>
                <a:latin typeface="Calibri"/>
              </a:rPr>
              <a:t>     ·     smolev@me.com     ·     Денис Смолев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