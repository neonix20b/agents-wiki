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Титул: сразу фиксируем рамку — не аренда, а владение. Все тезисы раскрыты внутри.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называем Сбер на этом слайде; боль вендор-лока описана нейтрально. Прямое сравнение — слайд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Тезис о формализации неформализованного. Пилот заявлен уже здесь и раскрыт на слайде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составляющие предложения; каждая карточка самодостаточна.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Формат «до/после» как в эталоне: слева аренда, справа владение, стрелка — переход.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Цифры защитимы: 11 отвечающих агентов + конвертер; 67+75+5 MCP-инструментов.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Метафора городских площадей. Технически: Agent Cards + реестр + 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Архитектурный аргумент против MCP-центричных платформ. Межагентный протокол GigaCowork публично не заявлен.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языка шаблонов промптов (JSON-DSL): переменные, композиция ролей, версионирование. Синтаксис — предмет совместного проектирования.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«Роддом агентов». Аттестатор на передовой модели — разрешённый сценарий без ПДн.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Честно: подключение моделей города — работа этапа пилота; архитектурно шлюз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Только публичные факты о GigaCowork; ничего об их внутренностях не утверждаем.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Целевая рамка: живая среда. Университеты — не разовые подрядчики; порог входа снижен языком шаблонов.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Разделы 12.2–12.3 концепции: no-code и заказная разработка. Структурные недостатки обоих путей.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Конкретные проценты не обещаем — метрики фиксируются на данных ведомства до и после.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Роли трёх сторон; сроки этапов — оценка, уточняется по итогам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Закрытие: действующая система, права юрлица, статус МИК, open-source практика. Призыв к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9CC5B9"/>
                </a:solidFill>
                <a:latin typeface="Arial"/>
              </a:rPr>
              <a:t>ПРЕДЛОЖЕНИЕ ДЛЯ ДИТ МОСКВЫ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875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Городская фабрика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Платформа, на которой город сам создаёт, проверяет и выпускает ИИ-агентов для своих ведомств — вместо аренды закрытой экосистемы вендора.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315968"/>
            <a:ext cx="2011680" cy="0"/>
          </a:xfrm>
          <a:prstGeom prst="line">
            <a:avLst/>
          </a:prstGeom>
          <a:ln w="17780">
            <a:solidFill>
              <a:srgbClr val="9CC5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526280"/>
            <a:ext cx="8503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9CC5B9"/>
                </a:solidFill>
                <a:latin typeface="Calibri"/>
              </a:rPr>
              <a:t>Новая система, проектируемая совместно с ДИТ: ядро-конструктор с открытым кодом на Mos.Hub, комнаты для взаимодействия агентов по протоколу A2A и конвейер аттестации с показателем зрелости каждого агента.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9CC5B9"/>
                </a:solidFill>
                <a:latin typeface="Cambria"/>
              </a:rPr>
              <a:t>Oxtech — участник Московского инновационного кластера. Платформа агентов работает в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Город выбирает, кому доверить 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Платформы агентов быстро становятся инфраструктурой: на них замыкаются данные, процессы и компетенции ведомств. Кто владеет платформой — тот управляет этим слоем.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4160520" cy="324612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ЧТО ПРЕДЛАГАЕТ РЫНОК СЕГОДНЯ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Аренда закрытой платформы в облаке вендора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CC5B9"/>
                </a:solidFill>
                <a:latin typeface="Calibri"/>
              </a:rPr>
              <a:t>Код, модели и план развития принадлежат поставщику. Город остаётся пользователем собственной автоматизации.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6771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24028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Зависимость растёт с каждым агентом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587752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Чем больше процессов переведено на платформу вендора, тем дороже и болезненнее её замена.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3200400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57800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2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Данные и модели — вне контроля города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712464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Запросы сотрудников и знания ведомств обрабатываются в чужой экосистеме по правилам поставщика.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15000" y="4325112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57800" y="451713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48970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Развитие идёт по чужому плану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837176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Новые возможности появляются тогда, когда они нужны вендору, а не тогда, когда они нужны городу.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Мы предлагаем другой путь: платформу, которой владеет сам город.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ЦЕЛЕВАЯ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Главная рутина ведомств — формализация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Значительная часть рабочего времени уходит на перенос сведений из свободных документов в поля информационных систем и на сверку значений между ними.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Контрольные соотношения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87752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Значения в связанных документах и формах отчётности должны сходиться между собой; сегодня их сверяют вручную.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200400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2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Комплектность пакетов документов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12464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Состав пакета и заполненность обязательных полей проверяются глазами, ошибка обнаруживается поздно.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4325112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51713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970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Ввод в городские системы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37176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Данные из писем, сканов и таблиц переносятся в информационные системы копированием.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240280"/>
            <a:ext cx="4187952" cy="324612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ПОЧЕМУ ЭТО ЗАДАЧА ДЛЯ АГЕНТОВ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35661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Понятный вход, формальный выход, проверяемый 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8912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CC5B9"/>
                </a:solidFill>
                <a:latin typeface="Calibri"/>
              </a:rPr>
              <a:t>Агент читает, сверяет и готовит протокол. Решение и подпись остаются за сотрудником.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Пилотный сценарий — контрольные соотношения документов: узкая, массовая и измеримая задача.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ПРЕДЛОЖЕНИЕ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Небольшое ядро и понятные правила его расширения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Мы предлагаем не коробочный продукт, а фабрику, которую проектируем совместно с ДИТ: технологическое ядро с открытым кодом и правила, по которым город наращивает агентов своими силами. Наша платформа не переносится — из неё берётся только опыт.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29584" cy="3200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25"/>
                </a:solidFill>
                <a:latin typeface="Arial"/>
              </a:rPr>
              <a:t>Ядро-конструктор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20440"/>
            <a:ext cx="29443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E6D68"/>
                </a:solidFill>
                <a:latin typeface="Calibri"/>
              </a:rPr>
              <a:t>Универсальный код агента и декларативная спецификация: роль, навыки, инструменты и права. Ядро публикуется в открытом коде на Mos.Hub и принадлежит городу.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286000"/>
            <a:ext cx="3529584" cy="3200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7860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44368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25"/>
                </a:solidFill>
                <a:latin typeface="Arial"/>
              </a:rPr>
              <a:t>Комнаты и правила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20440"/>
            <a:ext cx="29443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E6D68"/>
                </a:solidFill>
                <a:latin typeface="Calibri"/>
              </a:rPr>
              <a:t>Агенты добавляются в комнаты — городские площади, где они публикуют услуги и находят друг друга. Правила описывают, как добавлять инструменты, навыки и новые комнаты.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286000"/>
            <a:ext cx="3529584" cy="320040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7860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CC5B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44368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Конвейер агентов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520440"/>
            <a:ext cx="29443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CC5B9"/>
                </a:solidFill>
                <a:latin typeface="Calibri"/>
              </a:rPr>
              <a:t>Заявка ведомства проходит путь от сборки в конструкторе до аттестации и выпуска. Каждый агент получает показатель зрелости, которому можно доверять.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Новая специальность агента — это конфигурация ядра, а не новая разработка.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ОТЛИЧИЕ ПОДХОДА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Фабрика города — это актив, а не подписка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Разница не в наборе функций, а в том, что остаётся у города после окончания контракта с поставщиком.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5029200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E6D68"/>
                </a:solidFill>
                <a:latin typeface="Arial"/>
              </a:rPr>
              <a:t>АРЕНДА У ВЕНДОРА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E2725"/>
                </a:solidFill>
                <a:latin typeface="Arial"/>
              </a:rPr>
              <a:t>Готовая закрытая платформа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1012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63D2F"/>
                </a:solidFill>
                <a:latin typeface="Arial"/>
              </a:rPr>
              <a:t>●  </a:t>
            </a:r>
            <a:r>
              <a:rPr sz="1300" b="1" i="0">
                <a:solidFill>
                  <a:srgbClr val="1E2725"/>
                </a:solidFill>
                <a:latin typeface="Arial"/>
              </a:rPr>
              <a:t>Код закрыт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5844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Развитие возможно только через план и тарифы поставщика.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63D2F"/>
                </a:solidFill>
                <a:latin typeface="Arial"/>
              </a:rPr>
              <a:t>●  </a:t>
            </a:r>
            <a:r>
              <a:rPr sz="1300" b="1" i="0">
                <a:solidFill>
                  <a:srgbClr val="1E2725"/>
                </a:solidFill>
                <a:latin typeface="Arial"/>
              </a:rPr>
              <a:t>Облако вендора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3159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Данные и модели ведомств обрабатываются вне контура города.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7316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63D2F"/>
                </a:solidFill>
                <a:latin typeface="Arial"/>
              </a:rPr>
              <a:t>●  </a:t>
            </a:r>
            <a:r>
              <a:rPr sz="1300" b="1" i="0">
                <a:solidFill>
                  <a:srgbClr val="1E2725"/>
                </a:solidFill>
                <a:latin typeface="Arial"/>
              </a:rPr>
              <a:t>Замена — новый 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04748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Через несколько лет миграция сравнима с внедрением с нуля.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88152" y="3703320"/>
            <a:ext cx="566928" cy="384048"/>
          </a:xfrm>
          <a:prstGeom prst="rightArrow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2212848"/>
            <a:ext cx="5029200" cy="3310128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CC5B9"/>
                </a:solidFill>
                <a:latin typeface="Arial"/>
              </a:rPr>
              <a:t>ФАБРИКА ГОРОДА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6148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Собственная платформа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331012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C5B9"/>
                </a:solidFill>
                <a:latin typeface="Arial"/>
              </a:rPr>
              <a:t>●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Ядро в открытом коде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35844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Код опубликован на Mos.Hub; технология и данные принадлежат городу.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404164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C5B9"/>
                </a:solidFill>
                <a:latin typeface="Arial"/>
              </a:rPr>
              <a:t>●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Агентов создают свои команды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43159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Ведомства, подрядчики и университеты работают по общим правилам.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477316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C5B9"/>
                </a:solidFill>
                <a:latin typeface="Arial"/>
              </a:rPr>
              <a:t>●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Подрядчик заменяем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504748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При смене исполнителя код, правила и данные остаются у города.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Город получает не продукт в пользование, а актив, который остаётся у него навсегда.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КОНСТРУКТОР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Один код агента — много городских специальностей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Ядро одинаково для всех агентов, специальность задаётся спецификацией. Подход проверен в production-платформе Oxtech, где все агенты собираются из единой кодовой базы.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840480" cy="288036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УНИВЕРСАЛЬНОЕ ЯДРО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2608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Сервер протокола A2A и карточка возможностей агента.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Клиент MCP для доступа к данным городских систем.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Аутентификация, лимиты, метрики и трассировка каждого шага.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17720" y="3566160"/>
            <a:ext cx="502920" cy="365760"/>
          </a:xfrm>
          <a:prstGeom prst="rightArrow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2331720"/>
            <a:ext cx="3200400" cy="2880360"/>
          </a:xfrm>
          <a:prstGeom prst="roundRect">
            <a:avLst>
              <a:gd name="adj" fmla="val 7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5786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584A"/>
                </a:solidFill>
                <a:latin typeface="Arial"/>
              </a:rPr>
              <a:t>СПЕЦИФИКАЦИЯ АГЕНТА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926080"/>
            <a:ext cx="2651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Роль — системный промпт специальности.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Навыки и набор инструментов.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Права: белый список и комнаты.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Модель, выбранная под сценарий.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331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ПРИМЕРЫ СПЕЦИАЛЬНОСТЕЙ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697480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779776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Бухгалтер-контролёр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209544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291840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Проверяющий комплекты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721608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3803904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Аналитик отчётности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233672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315968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Регистратор обращений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745736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828032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Аттестатор агентов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3601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Опыт ООО «Окстех»: в production более 10 агентов и 140+ инструментов данных — подход проверен и переносится в новую систему города.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КОМНАТЫ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Комнаты — площади, где агенты находят друг друга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Комнат несколько, как площадей в городе: у каждой свои участники, свои данные и свои правила входа.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547872" cy="178308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25"/>
                </a:solidFill>
                <a:latin typeface="Arial"/>
              </a:rPr>
              <a:t>Комната «Финансы»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Бухгалтер-контролёр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7413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Аналитик отчётности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94560"/>
            <a:ext cx="3547872" cy="178308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25"/>
                </a:solidFill>
                <a:latin typeface="Arial"/>
              </a:rPr>
              <a:t>Комната «Документы»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274320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82549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Проверяющий комплекты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329184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337413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Регистратор обращений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2194560"/>
            <a:ext cx="3547872" cy="178308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25"/>
                </a:solidFill>
                <a:latin typeface="Arial"/>
              </a:rPr>
              <a:t>Комната «Кадры»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5048" y="274320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82549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Подбор и проверки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5048" y="329184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37413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Кадровое делопроизводство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114800"/>
            <a:ext cx="8165592" cy="530352"/>
          </a:xfrm>
          <a:prstGeom prst="roundRect">
            <a:avLst>
              <a:gd name="adj" fmla="val 30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4114800"/>
            <a:ext cx="7708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584A"/>
                </a:solidFill>
                <a:latin typeface="Calibri"/>
              </a:rPr>
              <a:t>Универсальные агенты — чтение документов, подготовка текстов, календарь — состоят сразу в нескольких комнатах.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646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Discovery по карточкам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80"/>
            <a:ext cx="502920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Каждый агент публикует карточку возможностей (A2A Agent Card); внутри комнаты исполнители находятся автоматически.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920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6460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Вход в комнату — это права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12080"/>
            <a:ext cx="4690872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Агент видит только данные и агентов своей площади; границы комнат — границы доступа.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Чтобы подключить нового агента, его достаточно добавить в комнату — связи выстроятся сами.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ПРОТОКОЛЫ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MCP отвечает за данные, A2A — за координацию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Мировая практика мультиагентных систем закрепила разделение слоёв: доступ к данным и взаимодействие агентов — разные задачи с разными протоколами.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237744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237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MCP · 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25"/>
                </a:solidFill>
                <a:latin typeface="Arial"/>
              </a:rPr>
              <a:t>Доступ агента к данным города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Соединяет агента с инструментами и данными городских систем: справочники, документы, календари, финансы. Все вызовы идут по описанным схемам через единый слой.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286000"/>
            <a:ext cx="5349240" cy="237744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5237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A2A · AGENT-TO-AGENT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8529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rial"/>
              </a:rPr>
              <a:t>Взаимодействие агентов между собой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310128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C5B9"/>
                </a:solidFill>
                <a:latin typeface="Calibri"/>
              </a:rPr>
              <a:t>Связывает агентов: карточки возможностей, задачи с жизненным циклом, встречные вопросы и длительная работа. Спецификация v1.0.1 передана в Linux Foundation (Apache 2.0), официальные SDK на шести языках — протокол не принадлежит вендору.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74336"/>
            <a:ext cx="10378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E2725"/>
                </a:solidFill>
                <a:latin typeface="Calibri"/>
              </a:rPr>
              <a:t>Почему это важно: </a:t>
            </a:r>
            <a:r>
              <a:rPr sz="1200" b="0" i="0">
                <a:solidFill>
                  <a:srgbClr val="5E6D68"/>
                </a:solidFill>
                <a:latin typeface="Calibri"/>
              </a:rPr>
              <a:t>платформы, где агенты вызывают друг друга как функции через MCP, теряют жизненный цикл задач, встречные вопросы и discovery. В фабрике каждый межагентный вызов идёт по A2A и виден в трассировке.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Открытые протоколы вместо закрытых интерфейсов: город не заперт в чьей-либо экосистеме.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ЯЗЫК ПРАВИЛ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Правила агентов — переменные, а не «простыни»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Роль агента описывается JSON-структурой на специализированном языке шаблонов. Переменная — это константа, отдельное правило или целый набор инструкций, переиспользуемый всеми агентами.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5029200" cy="25146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3230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БЕЗ ЯЗЫКА ШАБЛОНОВ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526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Каждое общее правило копируется в десятки промптов и расходится по версиям.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Правка требования города — ручная правка всех агентов подряд.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Изменения в сплошном тексте не видны при согласовании.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9592" y="2212848"/>
            <a:ext cx="5669280" cy="251460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2432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ШАБЛОН С ПЕРЕМЕННЫМИ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276148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302666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  "city_tone": "@city/style/official-tone",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329184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  "doc_rules": "@city/rules/document-handling",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55701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  "vedomstvo": "Проверка отчётности по форме 0503117",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822191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  "prompt": "Ты — агент-контролёр. {city_tone}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40873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             {doc_rules} Задача: {vedomstvo}"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435254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560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Единая правка для всех агентов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50292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Общегородское правило меняется в одном месте каталога и применяется ко всем агентам, использующим переменную.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5604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Навыки пишут предметники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303520"/>
            <a:ext cx="46908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Правила и инструкции доступны юристам и экономистам, а не только программистам, — порог входа в разработку навыков снижается.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97880"/>
            <a:ext cx="10908792" cy="475488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36015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Правка регламента — просматриваемое изменение одной переменной, проверяемое аттестацией до выпуска.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ФАБРИКА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Каждый агент проходит конвейер и получает зрелость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Фабрика — это порядок появления агентов: от заявки ведомства до выпуска на площадь. Никакой агент не попадает к данным города без аттестации.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19" y="2834640"/>
            <a:ext cx="8741665" cy="0"/>
          </a:xfrm>
          <a:prstGeom prst="line">
            <a:avLst/>
          </a:prstGeom>
          <a:ln w="2032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60119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Заявка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Ведомство описывает задачу и требуемый результат.</a:t>
            </a:r>
          </a:p>
        </p:txBody>
      </p:sp>
      <p:sp>
        <p:nvSpPr>
          <p:cNvPr id="11" name="Oval 10"/>
          <p:cNvSpPr/>
          <p:nvPr/>
        </p:nvSpPr>
        <p:spPr>
          <a:xfrm>
            <a:off x="3145536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Сборка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Специальность собирается из ядра и спецификации.</a:t>
            </a:r>
          </a:p>
        </p:txBody>
      </p:sp>
      <p:sp>
        <p:nvSpPr>
          <p:cNvPr id="15" name="Oval 14"/>
          <p:cNvSpPr/>
          <p:nvPr/>
        </p:nvSpPr>
        <p:spPr>
          <a:xfrm>
            <a:off x="5330952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Песочница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Агент решает эталонные задания на тестовых данных.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8" y="2606040"/>
            <a:ext cx="457200" cy="457200"/>
          </a:xfrm>
          <a:prstGeom prst="ellipse">
            <a:avLst/>
          </a:prstGeom>
          <a:solidFill>
            <a:srgbClr val="14584A"/>
          </a:solidFill>
          <a:ln w="17780">
            <a:solidFill>
              <a:srgbClr val="145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584A"/>
                </a:solidFill>
                <a:latin typeface="Arial"/>
              </a:rPr>
              <a:t>Аттестация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Оценка качества и допуск к реальным данным.</a:t>
            </a:r>
          </a:p>
        </p:txBody>
      </p:sp>
      <p:sp>
        <p:nvSpPr>
          <p:cNvPr id="23" name="Oval 22"/>
          <p:cNvSpPr/>
          <p:nvPr/>
        </p:nvSpPr>
        <p:spPr>
          <a:xfrm>
            <a:off x="9701784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Выпуск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Агент появляется в комнате и доступен через discovery.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ШКАЛА ЗРЕЛОСТИ АГЕНТА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E6D68"/>
                </a:solidFill>
                <a:latin typeface="Arial"/>
              </a:rPr>
              <a:t>Прототип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48356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48356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E6D68"/>
                </a:solidFill>
                <a:latin typeface="Arial"/>
              </a:rPr>
              <a:t>Песочница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6632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E7F2EE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6632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584A"/>
                </a:solidFill>
                <a:latin typeface="Arial"/>
              </a:rPr>
              <a:t>Аттестован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4908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E7F2EE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4908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584A"/>
                </a:solidFill>
                <a:latin typeface="Arial"/>
              </a:rPr>
              <a:t>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4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4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Ветеран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601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Оценку проводит агент-аттестатор на самой сильной доступной модели, финальный допуск подтверждает человек.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Модель подбирается осознанно под каждый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Агенты обращаются к моделям через единый OpenAI-совместимый шлюз, поэтому выбор модели — это строка конфигурации, а не переделка агента.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84A"/>
                </a:solidFill>
                <a:latin typeface="Arial"/>
              </a:rPr>
              <a:t>Дообученные модели города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Основной контур: агенты работают на моделях, которые ДИТ уже дообучает под городские задачи (LoRA).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8152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25"/>
                </a:solidFill>
                <a:latin typeface="Arial"/>
              </a:rPr>
              <a:t>Российские коммерческие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557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GigaChat и YandexGPT подключаются через тот же шлюз для задач, где это оправдано, — без привязки агентов к вендору.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5020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25"/>
                </a:solidFill>
                <a:latin typeface="Arial"/>
              </a:rPr>
              <a:t>Локальные open-source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Для закрытых контуров и чувствительных данных модели разворачиваются в периметре города.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1888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25"/>
                </a:solidFill>
                <a:latin typeface="Arial"/>
              </a:rPr>
              <a:t>Передовые зарубежные — точечно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0293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Только в разрешённых сценариях без персональных данных, например для аттестации зрелости агентов.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240280"/>
            <a:ext cx="3090672" cy="329184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487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ЕДИНЫЙ ШЛЮЗ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834640"/>
            <a:ext cx="25603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Агенты не привязаны к поставщику моделей.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Расход токенов учитывается по каждому контуру.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Лимиты и аудит всех обращений к моделям.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Смена модели не требует переписывать агента.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Город не привязан ни к одному поставщику моделей — включая нас.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Собственная фабрика против аренды GigaCowork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Сравнение по открытым данным о платформе GigaCowork («Салют для бизнеса», открытый тестовый доступ с 19 мая 2026 года).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80"/>
          <a:ext cx="109087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4690872"/>
              </a:tblGrid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E2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Аренда: GigaCowork</a:t>
                      </a:r>
                    </a:p>
                  </a:txBody>
                  <a:tcPr>
                    <a:solidFill>
                      <a:srgbClr val="0F4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Владение: фабрика города</a:t>
                      </a:r>
                    </a:p>
                  </a:txBody>
                  <a:tcPr>
                    <a:solidFill>
                      <a:srgbClr val="14584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Владение кодом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Закрытая платформа Сбера.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Открытое ядро на Mos.Hub — код принадлежит городу.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Данные и контур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Облако вендора; on-premise не заявлен.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Полностью в периметре города.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Модели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Экосистема GigaChat.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Модели города и любые другие через шлюз, выбор под сценарий.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Создание агентов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Self-service: сотрудник описывает регламент в чате.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Фабрика: сборка, песочница, аттестация и показатель зрелости.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Связь агентов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MCP-интеграции; протокол агент–агент не заявлен.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A2A с discovery по комнатам; каждый вызов в трассировке.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Развитие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По плану вендора.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По правилам города: витрина навыков и заказы университетам.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42432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42432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GigaCowork автоматизирует сотрудника. Фабрика создаёт управляемый парк агентов, которым владеет город.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Витрина навыков превращает расширение в 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Городу понадобится всё больше агентов и инструментов. Вместо заказа каждого навыка у вендора фабрика выращивает рынок исполнителей вокруг открытого ядра.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19" y="2697480"/>
            <a:ext cx="8741665" cy="0"/>
          </a:xfrm>
          <a:prstGeom prst="line">
            <a:avLst/>
          </a:prstGeom>
          <a:ln w="2032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60119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Ведомство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Публикует на витрине потребность в навыке или агенте.</a:t>
            </a:r>
          </a:p>
        </p:txBody>
      </p:sp>
      <p:sp>
        <p:nvSpPr>
          <p:cNvPr id="11" name="Oval 10"/>
          <p:cNvSpPr/>
          <p:nvPr/>
        </p:nvSpPr>
        <p:spPr>
          <a:xfrm>
            <a:off x="3145536" y="2468880"/>
            <a:ext cx="457200" cy="457200"/>
          </a:xfrm>
          <a:prstGeom prst="ellipse">
            <a:avLst/>
          </a:prstGeom>
          <a:solidFill>
            <a:srgbClr val="14584A"/>
          </a:solidFill>
          <a:ln w="17780">
            <a:solidFill>
              <a:srgbClr val="145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584A"/>
                </a:solidFill>
                <a:latin typeface="Arial"/>
              </a:rPr>
              <a:t>Витрина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Каталог инструментов и навыков со статусом зрелости каждого.</a:t>
            </a:r>
          </a:p>
        </p:txBody>
      </p:sp>
      <p:sp>
        <p:nvSpPr>
          <p:cNvPr id="15" name="Oval 14"/>
          <p:cNvSpPr/>
          <p:nvPr/>
        </p:nvSpPr>
        <p:spPr>
          <a:xfrm>
            <a:off x="5330952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Университеты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Команды берут оплачиваемые заказы на разработку.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8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Фабрика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Чужие навыки проходят ту же аттестацию, что и городские.</a:t>
            </a:r>
          </a:p>
        </p:txBody>
      </p:sp>
      <p:sp>
        <p:nvSpPr>
          <p:cNvPr id="23" name="Oval 22"/>
          <p:cNvSpPr/>
          <p:nvPr/>
        </p:nvSpPr>
        <p:spPr>
          <a:xfrm>
            <a:off x="9701784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Комнаты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Готовый навык становится доступен агентам города.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7083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434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Университеты — системообразующий участник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90872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Оплачиваемые заказы через витрину, курсовые и дипломы на реальных задачах ведомств, кадровый резерв для города и научная работа над методиками оценки агентов.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7083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4340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Среда держится на инфраструктуре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90872"/>
            <a:ext cx="46908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Открытое ядро на Mos.Hub, SDK на шести языках, общедоступная песочница, репутация авторов по зрелости навыков, синергия с ЛЦТ и программами МИК.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Цель — не только техническая среда, но и экспертное сообщество: живая среда переживает смену подрядчиков.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СРАВНЕНИЕ · ДРУГИЕ ПУТИ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Остальные пути тоже рассмотрены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Кроме аренды готовой платформы у города есть ещё два очевидных варианта — у каждого из них структурный недостаток, который не лечится бюджетом.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237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ПУТЬ 2 · NO-CODE КОНСТРУКТОРЫ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25"/>
                </a:solidFill>
                <a:latin typeface="Arial"/>
              </a:rPr>
              <a:t>Каждый сотрудник — сам себе автоматизатор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Конструкторы автоматизируют личную рутину, но в них нет модели прав между подразделениями, аттестации и обособленных контуров данных. Задачи организации — процессы, ответственность, аудит — они не решают.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28600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5237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ПУТЬ 3 · ЗАКАЗНАЯ РАЗРАБОТКА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852928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25"/>
                </a:solidFill>
                <a:latin typeface="Arial"/>
              </a:rPr>
              <a:t>Отдельный проект под каждого агента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346704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Свой стек, свой цикл сопровождения и интеграции точка-точка у каждого проекта: стоимость следующего агента не снижается. В фабрике предельная стоимость новой специальности — конфигурация плюс аттестация, а интеграции и правила переиспользуются.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Фабрика — единственный путь, где стоимость каждого следующего агента падает, а качество гарантируется процессом.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Пилот за 6–8 недель: контрольные соотношения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Узкий и измеримый сценарий в одном ведомстве, в контуре города, с фиксацией метрик до и после. Три агента из конструктора закрывают процесс целиком.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47872" cy="173736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6148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Чтение пакета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27248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Агент-чтец извлекает значения из документов, сканов и форм и переводит их в структурированный вид.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286000"/>
            <a:ext cx="3547872" cy="173736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4688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76148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Сверка соотношений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127248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Агент-контролёр проверяет контрольные соотношения по правилам ведомства и находит расхождения.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286000"/>
            <a:ext cx="3547872" cy="173736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6148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Протокол расхождений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27248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Агент-писарь готовит протокол; сотрудник проверяет и подтверждает результат.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ЧТО ИЗМЕРЯЕМ ДО И ПОСЛЕ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53712"/>
            <a:ext cx="35478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84A"/>
                </a:solidFill>
                <a:latin typeface="Arial"/>
              </a:rPr>
              <a:t>Время проверки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992624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Сколько занимает проверка одного пакета документов.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4553712"/>
            <a:ext cx="35478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84A"/>
                </a:solidFill>
                <a:latin typeface="Arial"/>
              </a:rPr>
              <a:t>Доля расхождений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992624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Сколько расхождений нашли агенты и подтвердили люди.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4553712"/>
            <a:ext cx="35478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84A"/>
                </a:solidFill>
                <a:latin typeface="Arial"/>
              </a:rPr>
              <a:t>Часы сотрудников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92624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Сколько времени высвобождено с рутинной сверки.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Каждое действие агентов записывается в трассировку, значимые решения подтверждает сотрудник — принцип human-in-the-loop.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Три этапа: от пилота к городской фабрике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Каждый этап завершается проверяемым результатом, и город в любой точке остаётся владельцем всего созданного.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547872" cy="196596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Этап 1 · Пилот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70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4584A"/>
                </a:solidFill>
                <a:latin typeface="Arial"/>
              </a:rPr>
              <a:t>6–8 недель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3054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Контрольные соотношения в одном ведомстве, подключение моделей города к шлюзу и фиксация метрик до и после.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240280"/>
            <a:ext cx="3547872" cy="196596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423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Этап 2 · Ядро и комнаты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770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4584A"/>
                </a:solidFill>
                <a:latin typeface="Arial"/>
              </a:rPr>
              <a:t>3–4 месяца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108960"/>
            <a:ext cx="3054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Публикация ядра на Mos.Hub, запуск комнат с discovery, правил расширения и конвейера с песочницей и аттестацией.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240280"/>
            <a:ext cx="3547872" cy="196596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23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Этап 3 · Экосистема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0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Далее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054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Витрина инструментов и навыков, оплачиваемые заказы университетам и тираж на ведомства города.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10451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ДИТ Москвы — владелец и оператор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28032"/>
            <a:ext cx="10451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Инсталляция, данные и процесс аттестации принадлежат городу; платформу эксплуатирует команда ДИТ.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5138928"/>
            <a:ext cx="104515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2212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93792"/>
            <a:ext cx="10451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Oxtech — технологический партнёр ядра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41264"/>
            <a:ext cx="10451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Архитектура и сопровождение ядра, обучение команд, ревью расширений и поддержка с SLA; подрядчик заменяем по построению.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70448"/>
            <a:ext cx="10908792" cy="475488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6015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Университеты дополняют схему как поставщики навыков через витрину — по оплачиваемым заказам.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9CC5B9"/>
                </a:solidFill>
                <a:latin typeface="Arial"/>
              </a:rPr>
              <a:t>О КОМАНДЕ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Arial"/>
              </a:rPr>
              <a:t>Почему Oxtech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3969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Платформа уже в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68880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Команда агентов, более 140 инструментов доступа к данным, трассировка и учёт токенов работают сегодня — это не концепт, а действующая система.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1579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213969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Права оформлены на юрлицо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2468880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Свидетельство о госрегистрации ПО «Oxtech Agents» № 2026613582 от 06.02.2026; правообладатель — ООО «ОКСТЕХ», исполнитель по договору.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84448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12463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Участник инновационного кластера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4164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Резидент Московского инновационного кластера с профилем на i.moscow — знакомые городу процедуры пилотов и поддержки.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584448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7307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3712463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Открытый код — часть практики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404164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Библиотека ox-ai-workers опубликована под MIT и сопровождается с 2024 года; публикация ядра на Mos.Hub для нас естественный шаг.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90879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C63D2F"/>
                </a:solidFill>
                <a:latin typeface="Calibri"/>
              </a:rPr>
              <a:t>Следующий шаг: </a:t>
            </a:r>
            <a:r>
              <a:rPr sz="1350" b="1" i="0">
                <a:solidFill>
                  <a:srgbClr val="0F473B"/>
                </a:solidFill>
                <a:latin typeface="Calibri"/>
              </a:rPr>
              <a:t>демонстрация живой системы и выбор ведомства для пилота.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Смолева Галина</a:t>
            </a:r>
            <a:r>
              <a:rPr sz="1300" b="0" i="0">
                <a:solidFill>
                  <a:srgbClr val="9CC5B9"/>
                </a:solidFill>
                <a:latin typeface="Calibri"/>
              </a:rPr>
              <a:t>     ·     +7 (916) 127-97-90     ·     robot@oxteam.me     ·     oxteam.me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